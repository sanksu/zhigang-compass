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实测 P95 (ms)</c:v>
                </c:pt>
              </c:strCache>
            </c:strRef>
          </c:tx>
          <c:spPr>
            <a:solidFill>
              <a:srgbClr val="2E5F8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B3A5C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E5F8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panorama（图谱全景）</c:v>
                  </c:pt>
                  <c:pt idx="1">
                    <c:v>search（全文检索）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430</c:v>
                </c:pt>
                <c:pt idx="1">
                  <c:v>390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1B3A5C"/>
                  </a:solidFill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E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00"/>
        </c:scaling>
        <c:delete val="0"/>
        <c:axPos val="l"/>
        <c:majorGridlines>
          <c:spPr>
            <a:ln w="6350" cap="flat">
              <a:solidFill>
                <a:srgbClr val="E4EA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E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ages/bg-cover_16x9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B2D">
              <a:alpha val="65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1371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200" kern="0" dirty="0">
                <a:solidFill>
                  <a:srgbClr val="8FD4B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科大讯飞挑战杯 · 揭榜挂帅    项目编号 XH-202621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457200" y="2148840"/>
            <a:ext cx="112745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spc="800" kern="0" dirty="0">
                <a:solidFill>
                  <a:srgbClr val="FFFFFF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智岗罗盘</a:t>
            </a:r>
            <a:endParaRPr lang="en-US" sz="6600" dirty="0"/>
          </a:p>
        </p:txBody>
      </p:sp>
      <p:sp>
        <p:nvSpPr>
          <p:cNvPr id="6" name="Text 3"/>
          <p:cNvSpPr/>
          <p:nvPr/>
        </p:nvSpPr>
        <p:spPr>
          <a:xfrm>
            <a:off x="457200" y="3474720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D8E4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多源异构驱动的岗位能力动态演化与人岗匹配系统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457200" y="4297680"/>
            <a:ext cx="2926080" cy="0"/>
          </a:xfrm>
          <a:prstGeom prst="line">
            <a:avLst/>
          </a:prstGeom>
          <a:noFill/>
          <a:ln w="31750">
            <a:solidFill>
              <a:srgbClr val="10B98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57200" y="45720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4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项目周期 2026.07.13 — 09.05    ·    团队 6 人（前端 / 后端 / 算法 / 数据 / 测试 / 文档）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00232" y="3474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/ 20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31089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BACKGROUND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项目背景与行业痛点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457200" y="1426464"/>
            <a:ext cx="1051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3D2E2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01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1645920" y="1481328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技术迭代 远快于 人才培养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645920" y="1883664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/ 大模型每季度出现新方向，本科培养周期 4 年——技能供给天然滞后于岗位需求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1645920" y="2450592"/>
            <a:ext cx="9601200" cy="0"/>
          </a:xfrm>
          <a:prstGeom prst="line">
            <a:avLst/>
          </a:prstGeom>
          <a:noFill/>
          <a:ln w="9525">
            <a:solidFill>
              <a:srgbClr val="E3EAF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2633472"/>
            <a:ext cx="1051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3D2E2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02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1645920" y="268833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结构性供需错配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645920" y="3090672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企业「招不到合适的人」，求职者「不知道学什么」——缺一个可量化的能力坐标参照系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1645920" y="3657600"/>
            <a:ext cx="9601200" cy="0"/>
          </a:xfrm>
          <a:prstGeom prst="line">
            <a:avLst/>
          </a:prstGeom>
          <a:noFill/>
          <a:ln w="9525">
            <a:solidFill>
              <a:srgbClr val="E3EAF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840480"/>
            <a:ext cx="1051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B815F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03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1645920" y="3895344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招聘 JD 三大顽疾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645920" y="4297680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时滞（沿用 3 年前要求） · 抄袭（同质化严重） · 通胀（要求虚高）——JD 信号本身失真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1645920" y="4864608"/>
            <a:ext cx="9601200" cy="0"/>
          </a:xfrm>
          <a:prstGeom prst="line">
            <a:avLst/>
          </a:prstGeom>
          <a:noFill/>
          <a:ln w="9525">
            <a:solidFill>
              <a:srgbClr val="E3EAF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5047488"/>
            <a:ext cx="1051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3D2E2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04</a:t>
            </a:r>
            <a:endParaRPr lang="en-US" sz="4000" dirty="0"/>
          </a:p>
        </p:txBody>
      </p:sp>
      <p:sp>
        <p:nvSpPr>
          <p:cNvPr id="18" name="Text 16"/>
          <p:cNvSpPr/>
          <p:nvPr/>
        </p:nvSpPr>
        <p:spPr>
          <a:xfrm>
            <a:off x="1645920" y="5102352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传统匹配停留在关键词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645920" y="5504688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无技能级差距诊断、无个性化学习路径——「匹不配得上」说不清，「差什么」更说不清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00232" y="3474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/ 20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31089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INNOVATION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核心创新点（3 + 1）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5394960" cy="2121408"/>
          </a:xfrm>
          <a:prstGeom prst="roundRect">
            <a:avLst>
              <a:gd name="adj" fmla="val 3448"/>
            </a:avLst>
          </a:prstGeom>
          <a:solidFill>
            <a:srgbClr val="EDF2F8"/>
          </a:solidFill>
          <a:ln w="9525">
            <a:solidFill>
              <a:srgbClr val="DCE6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755648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815F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01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1600200" y="182880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动态演化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434840" y="1883664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核心竞争力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49808" y="2487168"/>
            <a:ext cx="48280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从「静态画像」到「动态感知」——岗位能力图谱随技术趋势自我进化，新兴/衰退信号驱动更新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144768" y="1554480"/>
            <a:ext cx="5394960" cy="2121408"/>
          </a:xfrm>
          <a:prstGeom prst="roundRect">
            <a:avLst>
              <a:gd name="adj" fmla="val 3448"/>
            </a:avLst>
          </a:prstGeom>
          <a:solidFill>
            <a:srgbClr val="F7FAFD"/>
          </a:solidFill>
          <a:ln w="9525">
            <a:solidFill>
              <a:srgbClr val="DCE6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0" y="1755648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B9CBD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7287768" y="182880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多源交叉验证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0122408" y="1883664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数据可信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37376" y="2487168"/>
            <a:ext cx="48280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JD × 课程 × 论文/社区 × 国家职业分类四源融合，每日计算一致性并在看板展示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3950208"/>
            <a:ext cx="5394960" cy="2121408"/>
          </a:xfrm>
          <a:prstGeom prst="roundRect">
            <a:avLst>
              <a:gd name="adj" fmla="val 3448"/>
            </a:avLst>
          </a:prstGeom>
          <a:solidFill>
            <a:srgbClr val="F7FAFD"/>
          </a:solidFill>
          <a:ln w="9525">
            <a:solidFill>
              <a:srgbClr val="DCE6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13232" y="4151376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B9CBD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03</a:t>
            </a:r>
            <a:endParaRPr lang="en-US" sz="3400" dirty="0"/>
          </a:p>
        </p:txBody>
      </p:sp>
      <p:sp>
        <p:nvSpPr>
          <p:cNvPr id="17" name="Text 15"/>
          <p:cNvSpPr/>
          <p:nvPr/>
        </p:nvSpPr>
        <p:spPr>
          <a:xfrm>
            <a:off x="1600200" y="4224528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技能级人岗匹配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434840" y="4279392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落地闭环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49808" y="4882896"/>
            <a:ext cx="48280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三维加权评分 + 差距三态诊断 + 个性化学习路径——回答「差什么、学什么、怎么学」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144768" y="3950208"/>
            <a:ext cx="5394960" cy="2121408"/>
          </a:xfrm>
          <a:prstGeom prst="roundRect">
            <a:avLst>
              <a:gd name="adj" fmla="val 3448"/>
            </a:avLst>
          </a:prstGeom>
          <a:solidFill>
            <a:srgbClr val="F7FAFD"/>
          </a:solidFill>
          <a:ln w="9525">
            <a:solidFill>
              <a:srgbClr val="DCE6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0" y="4151376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B9CBD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04</a:t>
            </a:r>
            <a:endParaRPr lang="en-US" sz="3400" dirty="0"/>
          </a:p>
        </p:txBody>
      </p:sp>
      <p:sp>
        <p:nvSpPr>
          <p:cNvPr id="22" name="Text 20"/>
          <p:cNvSpPr/>
          <p:nvPr/>
        </p:nvSpPr>
        <p:spPr>
          <a:xfrm>
            <a:off x="7287768" y="4224528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幻觉防控三道防线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0122408" y="4279392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工程护栏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437376" y="4882896"/>
            <a:ext cx="48280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Pydantic Schema 强校验 → 词典/白名单过滤 → 证据链可追溯，LLM 输出全量可回放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00232" y="3474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/ 20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31089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系统总体架构 · 五服务容器化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74552" cy="1170432"/>
          </a:xfrm>
          <a:prstGeom prst="roundRect">
            <a:avLst>
              <a:gd name="adj" fmla="val 4688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728216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应用层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2148840" y="1691640"/>
            <a:ext cx="178308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48840" y="1691640"/>
            <a:ext cx="1783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FastAPI 统一 API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187952" y="1691640"/>
            <a:ext cx="178308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87952" y="1691640"/>
            <a:ext cx="1783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React 19 前端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227064" y="1691640"/>
            <a:ext cx="178308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27064" y="1691640"/>
            <a:ext cx="1783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同端口静态托管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66176" y="1691640"/>
            <a:ext cx="178308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66176" y="1691640"/>
            <a:ext cx="1783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CORS/CSP/限流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094476" y="2651760"/>
            <a:ext cx="0" cy="274320"/>
          </a:xfrm>
          <a:prstGeom prst="line">
            <a:avLst/>
          </a:prstGeom>
          <a:noFill/>
          <a:ln w="22225">
            <a:solidFill>
              <a:srgbClr val="2E5F8A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457200" y="2962656"/>
            <a:ext cx="11274552" cy="1170432"/>
          </a:xfrm>
          <a:prstGeom prst="roundRect">
            <a:avLst>
              <a:gd name="adj" fmla="val 4688"/>
            </a:avLst>
          </a:prstGeom>
          <a:solidFill>
            <a:srgbClr val="EDF2F8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3273552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图谱/算法层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2148840" y="3236976"/>
            <a:ext cx="178308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148840" y="3236976"/>
            <a:ext cx="1783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Neo4j 5 图谱+cjk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187952" y="3236976"/>
            <a:ext cx="178308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187952" y="3236976"/>
            <a:ext cx="1783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pgvector 向量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227064" y="3236976"/>
            <a:ext cx="178308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27064" y="3236976"/>
            <a:ext cx="1783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匹配/演化引擎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8266176" y="3236976"/>
            <a:ext cx="178308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66176" y="3236976"/>
            <a:ext cx="1783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LLM 抽取管线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094476" y="4197096"/>
            <a:ext cx="0" cy="274320"/>
          </a:xfrm>
          <a:prstGeom prst="line">
            <a:avLst/>
          </a:prstGeom>
          <a:noFill/>
          <a:ln w="22225">
            <a:solidFill>
              <a:srgbClr val="2E5F8A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457200" y="4507992"/>
            <a:ext cx="11274552" cy="1170432"/>
          </a:xfrm>
          <a:prstGeom prst="roundRect">
            <a:avLst>
              <a:gd name="adj" fmla="val 4688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5800" y="4818888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采集层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2148840" y="4782312"/>
            <a:ext cx="178308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148840" y="4782312"/>
            <a:ext cx="1783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 源三级爬虫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4187952" y="4782312"/>
            <a:ext cx="178308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187952" y="4782312"/>
            <a:ext cx="1783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代理池三梯队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6227064" y="4782312"/>
            <a:ext cx="178308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227064" y="4782312"/>
            <a:ext cx="1783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SimHash 去重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8266176" y="4782312"/>
            <a:ext cx="178308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266176" y="4782312"/>
            <a:ext cx="1783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质量评分管线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457200" y="5943600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五服务容器化部署（docker compose 一键启动，全服务健康检查）</a:t>
            </a:r>
            <a:endParaRPr lang="en-US" sz="1250" dirty="0"/>
          </a:p>
        </p:txBody>
      </p:sp>
      <p:sp>
        <p:nvSpPr>
          <p:cNvPr id="38" name="Shape 36"/>
          <p:cNvSpPr/>
          <p:nvPr/>
        </p:nvSpPr>
        <p:spPr>
          <a:xfrm>
            <a:off x="457200" y="6272784"/>
            <a:ext cx="2084832" cy="402336"/>
          </a:xfrm>
          <a:prstGeom prst="roundRect">
            <a:avLst>
              <a:gd name="adj" fmla="val 13636"/>
            </a:avLst>
          </a:prstGeom>
          <a:solidFill>
            <a:srgbClr val="1B3A5C"/>
          </a:solidFill>
          <a:ln/>
        </p:spPr>
      </p:sp>
      <p:sp>
        <p:nvSpPr>
          <p:cNvPr id="39" name="Text 37"/>
          <p:cNvSpPr/>
          <p:nvPr/>
        </p:nvSpPr>
        <p:spPr>
          <a:xfrm>
            <a:off x="457200" y="6272784"/>
            <a:ext cx="20848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api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2670048" y="6272784"/>
            <a:ext cx="2084832" cy="402336"/>
          </a:xfrm>
          <a:prstGeom prst="roundRect">
            <a:avLst>
              <a:gd name="adj" fmla="val 13636"/>
            </a:avLst>
          </a:prstGeom>
          <a:solidFill>
            <a:srgbClr val="1B3A5C"/>
          </a:solidFill>
          <a:ln/>
        </p:spPr>
      </p:sp>
      <p:sp>
        <p:nvSpPr>
          <p:cNvPr id="41" name="Text 39"/>
          <p:cNvSpPr/>
          <p:nvPr/>
        </p:nvSpPr>
        <p:spPr>
          <a:xfrm>
            <a:off x="2670048" y="6272784"/>
            <a:ext cx="20848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postgres + pgvector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4882896" y="6272784"/>
            <a:ext cx="2084832" cy="402336"/>
          </a:xfrm>
          <a:prstGeom prst="roundRect">
            <a:avLst>
              <a:gd name="adj" fmla="val 13636"/>
            </a:avLst>
          </a:prstGeom>
          <a:solidFill>
            <a:srgbClr val="1B3A5C"/>
          </a:solidFill>
          <a:ln/>
        </p:spPr>
      </p:sp>
      <p:sp>
        <p:nvSpPr>
          <p:cNvPr id="43" name="Text 41"/>
          <p:cNvSpPr/>
          <p:nvPr/>
        </p:nvSpPr>
        <p:spPr>
          <a:xfrm>
            <a:off x="4882896" y="6272784"/>
            <a:ext cx="20848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redis 7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7095744" y="6272784"/>
            <a:ext cx="2084832" cy="402336"/>
          </a:xfrm>
          <a:prstGeom prst="roundRect">
            <a:avLst>
              <a:gd name="adj" fmla="val 13636"/>
            </a:avLst>
          </a:prstGeom>
          <a:solidFill>
            <a:srgbClr val="1B3A5C"/>
          </a:solidFill>
          <a:ln/>
        </p:spPr>
      </p:sp>
      <p:sp>
        <p:nvSpPr>
          <p:cNvPr id="45" name="Text 43"/>
          <p:cNvSpPr/>
          <p:nvPr/>
        </p:nvSpPr>
        <p:spPr>
          <a:xfrm>
            <a:off x="7095744" y="6272784"/>
            <a:ext cx="20848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neo4j 5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9308592" y="6272784"/>
            <a:ext cx="2084832" cy="402336"/>
          </a:xfrm>
          <a:prstGeom prst="roundRect">
            <a:avLst>
              <a:gd name="adj" fmla="val 13636"/>
            </a:avLst>
          </a:prstGeom>
          <a:solidFill>
            <a:srgbClr val="1B3A5C"/>
          </a:solidFill>
          <a:ln/>
        </p:spPr>
      </p:sp>
      <p:sp>
        <p:nvSpPr>
          <p:cNvPr id="47" name="Text 45"/>
          <p:cNvSpPr/>
          <p:nvPr/>
        </p:nvSpPr>
        <p:spPr>
          <a:xfrm>
            <a:off x="9308592" y="6272784"/>
            <a:ext cx="20848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worker (ARQ)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00232" y="3474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/ 20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31089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DATA COLLECTION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数据采集与治理 · 13 源三级分级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5394960" cy="822960"/>
          </a:xfrm>
          <a:prstGeom prst="roundRect">
            <a:avLst>
              <a:gd name="adj" fmla="val 6667"/>
            </a:avLst>
          </a:prstGeom>
          <a:solidFill>
            <a:srgbClr val="EDF2F8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66420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级（核心招聘）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85800" y="1993392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智联招聘 · 脉脉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2606040"/>
            <a:ext cx="5394960" cy="822960"/>
          </a:xfrm>
          <a:prstGeom prst="roundRect">
            <a:avLst>
              <a:gd name="adj" fmla="val 6667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71576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级（课程/社区）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85800" y="3044952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Coursera · edX · MOOC · GitHub · Stack Overflow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3657600"/>
            <a:ext cx="5394960" cy="822960"/>
          </a:xfrm>
          <a:prstGeom prst="roundRect">
            <a:avLst>
              <a:gd name="adj" fmla="val 6667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376732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5F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级（权威/趋势）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85800" y="4096512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国家职业分类 · arXiv · 行业报告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" y="493776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3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国内直连 + 国际代理池三梯队：随机轮换 → 失败剔除 → 直连兜底</a:t>
            </a:r>
            <a:endParaRPr lang="en-US" sz="13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3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清洗管线：长度过滤 → 质量评分 → SimHash 语义去重 → 时效加权</a:t>
            </a:r>
            <a:endParaRPr lang="en-US" sz="13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3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合规红线：robots.txt 遵循 + 请求间隔 + 官方 API 条款背书</a:t>
            </a:r>
            <a:endParaRPr lang="en-US" sz="13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3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累计入库 15,293 条（JD / 课程 / 论文 / 社区），全链路可审计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071616" y="1517904"/>
            <a:ext cx="5687568" cy="3247263"/>
          </a:xfrm>
          <a:prstGeom prst="rect">
            <a:avLst/>
          </a:prstGeom>
          <a:solidFill>
            <a:srgbClr val="FFFFFF"/>
          </a:solidFill>
          <a:ln w="9525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25400" dir="2700000">
              <a:srgbClr val="1B3A5C">
                <a:alpha val="18000"/>
              </a:srgbClr>
            </a:outerShdw>
          </a:effectLst>
        </p:spPr>
      </p:sp>
      <p:pic>
        <p:nvPicPr>
          <p:cNvPr id="16" name="Image 0" descr="images/image-evolution_16x9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126480" y="1572768"/>
            <a:ext cx="5577840" cy="3137535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6126480" y="4828032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▲ 数据治理管线：采集 → 清洗 → 去重 → 质量评分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00232" y="3474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/ 20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31089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KNOWLEDGE GRAPH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知识图谱构建（Neo4j 5）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071616" y="1517904"/>
            <a:ext cx="5687568" cy="3247263"/>
          </a:xfrm>
          <a:prstGeom prst="rect">
            <a:avLst/>
          </a:prstGeom>
          <a:solidFill>
            <a:srgbClr val="FFFFFF"/>
          </a:solidFill>
          <a:ln w="9525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25400" dir="2700000">
              <a:srgbClr val="1B3A5C">
                <a:alpha val="18000"/>
              </a:srgbClr>
            </a:outerShdw>
          </a:effectLst>
        </p:spPr>
      </p:sp>
      <p:pic>
        <p:nvPicPr>
          <p:cNvPr id="6" name="Image 0" descr="images/image-graph_16x9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126480" y="1572768"/>
            <a:ext cx="5577840" cy="313753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126480" y="4828032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▲ 力导向图谱：岗位 / 技能 / 课程 / 证据 多实体异构网络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57200" y="1691640"/>
            <a:ext cx="53949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实体：Position / Skill / Course / Evidence / Occupation（对接国家职业分类 1639+）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关系：REQUIRES（权重 + 必要性）· LEARNABLE_VIA · EVOLVED_FROM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岗位名归一化：技术栈细分保留（如 React 前端工程师）+ 失真兜底族技能路由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cjk 全文索引内建于 Neo4j——中文检索零额外服务（替代 Elasticsearch）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职能域常驻（5 大骨干 + 4 显式语义域：网络安全/AI应用与智能体/企业应用与系统/产品与项目管理 + 通用兜底），归类依据逐岗可查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00232" y="3474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 / 20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31089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LLM PIPELINE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LLM 抽取与幻觉防控 · 三道防线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11274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分层 Prompt（System / Task / Few-Shot）+ 多 Provider 重试链（OpenAI 兼容协议）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六域决策信封全量落库：shadow / proposal / auto_applied / blocked 全程可追溯、可回放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2395728"/>
            <a:ext cx="3529584" cy="1371600"/>
          </a:xfrm>
          <a:prstGeom prst="roundRect">
            <a:avLst>
              <a:gd name="adj" fmla="val 5333"/>
            </a:avLst>
          </a:prstGeom>
          <a:solidFill>
            <a:srgbClr val="EDF2F8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76656" y="25603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第一道 · Schema 强校验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76656" y="2962656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Pydantic 结构化输出契约，非法输出即拒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041648" y="2788920"/>
            <a:ext cx="329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370832" y="2395728"/>
            <a:ext cx="3529584" cy="1371600"/>
          </a:xfrm>
          <a:prstGeom prst="roundRect">
            <a:avLst>
              <a:gd name="adj" fmla="val 5333"/>
            </a:avLst>
          </a:prstGeom>
          <a:solidFill>
            <a:srgbClr val="EDF2F8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90288" y="25603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第二道 · 词典过滤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590288" y="2962656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白名单 / 停用词词典，拦截业务脏词与歧义词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7955280" y="2788920"/>
            <a:ext cx="329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8284464" y="2395728"/>
            <a:ext cx="3529584" cy="1371600"/>
          </a:xfrm>
          <a:prstGeom prst="roundRect">
            <a:avLst>
              <a:gd name="adj" fmla="val 5333"/>
            </a:avLst>
          </a:prstGeom>
          <a:solidFill>
            <a:srgbClr val="EDF2F8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503920" y="25603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第三道 · 证据链追溯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503920" y="2962656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每条断言可回指原始 JD，支持回放审计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57200" y="41148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评测闭环：110 条正式黄金集（人工标注）LLM 盲审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57200" y="4526280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B815F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0.9632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457200" y="518464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技能 aligned F1（目标 ≥0.90）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3017520" y="4526280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&lt; 1%</a:t>
            </a:r>
            <a:endParaRPr lang="en-US" sz="3600" dirty="0"/>
          </a:p>
        </p:txBody>
      </p:sp>
      <p:sp>
        <p:nvSpPr>
          <p:cNvPr id="21" name="Text 19"/>
          <p:cNvSpPr/>
          <p:nvPr/>
        </p:nvSpPr>
        <p:spPr>
          <a:xfrm>
            <a:off x="3017520" y="518464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幻觉 FP 率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577840" y="4526280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0.8865</a:t>
            </a:r>
            <a:endParaRPr lang="en-US" sz="3600" dirty="0"/>
          </a:p>
        </p:txBody>
      </p:sp>
      <p:sp>
        <p:nvSpPr>
          <p:cNvPr id="23" name="Text 21"/>
          <p:cNvSpPr/>
          <p:nvPr/>
        </p:nvSpPr>
        <p:spPr>
          <a:xfrm>
            <a:off x="5577840" y="518464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raw F1（未对齐口径）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7863840" y="461772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口径说明：跨源一致性为每日计算并在看板展示（透明可查），自动硬门控列入后续路线图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457200" y="6263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Source: 110 条 gold 人工标注盲审（词面真值对齐口径）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00232" y="3474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/ 20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31089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MATCHING ENGINE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人岗匹配引擎 · 技能级三维评分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071616" y="1517904"/>
            <a:ext cx="5687568" cy="4293108"/>
          </a:xfrm>
          <a:prstGeom prst="rect">
            <a:avLst/>
          </a:prstGeom>
          <a:solidFill>
            <a:srgbClr val="FFFFFF"/>
          </a:solidFill>
          <a:ln w="9525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25400" dir="2700000">
              <a:srgbClr val="1B3A5C">
                <a:alpha val="18000"/>
              </a:srgbClr>
            </a:outerShdw>
          </a:effectLst>
        </p:spPr>
      </p:sp>
      <p:pic>
        <p:nvPicPr>
          <p:cNvPr id="6" name="Image 0" descr="images/image-matching_4x3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126480" y="1572768"/>
            <a:ext cx="5577840" cy="41833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126480" y="585216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▲ 三维评分 + 语义增强 · 差距三态诊断 + 证据链追溯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57200" y="1691640"/>
            <a:ext cx="53949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三维加权：必备技能（must/nice 加权命中）+ 经验 + 学历，差距三态诊断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语义增强：SBERT 多语言向量 + Bradley-Terry 权重学习（Spearman 0.88）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纠偏机制：技能通胀修正（CII）+ 时效衰减 + 跨域降权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JD 级评分口径：推荐列表与详情同源同分——对齐「最匹配的那条真实 JD」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双模式：批量推荐（Top-N）+ 单点比对（差距分析 + 学习路径）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00232" y="3474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 / 20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31089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EVOLUTION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演化发现 · 岗位能力生命周期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071616" y="1517904"/>
            <a:ext cx="5687568" cy="3247263"/>
          </a:xfrm>
          <a:prstGeom prst="rect">
            <a:avLst/>
          </a:prstGeom>
          <a:solidFill>
            <a:srgbClr val="FFFFFF"/>
          </a:solidFill>
          <a:ln w="9525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25400" dir="2700000">
              <a:srgbClr val="1B3A5C">
                <a:alpha val="18000"/>
              </a:srgbClr>
            </a:outerShdw>
          </a:effectLst>
        </p:spPr>
      </p:sp>
      <p:pic>
        <p:nvPicPr>
          <p:cNvPr id="6" name="Image 0" descr="images/image-evolution_16x9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126480" y="1572768"/>
            <a:ext cx="5577840" cy="313753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126480" y="4828032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▲ 双信号检测：Z-score + MoM · 新兴/衰退趋势实时追踪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57200" y="1691640"/>
            <a:ext cx="53949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双信号检测：Z-score 统计门控 + 环比 MoM 辅助，抗波动打标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岗位状态机：emerging → stable → declining（置信度阈值 + RAG 接地）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技术热点观察池（arXiv / GitHub 信号）→ 自动升级 candidate 候选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新岗位发现页：候选岗位 + 技能增减 diff，人工审核后入图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5212080"/>
            <a:ext cx="1417320" cy="420624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5212080"/>
            <a:ext cx="1417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emerging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1892808" y="5212080"/>
            <a:ext cx="329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2240280" y="5212080"/>
            <a:ext cx="1417320" cy="420624"/>
          </a:xfrm>
          <a:prstGeom prst="roundRect">
            <a:avLst>
              <a:gd name="adj" fmla="val 50000"/>
            </a:avLst>
          </a:prstGeom>
          <a:solidFill>
            <a:srgbClr val="2E5F8A"/>
          </a:solidFill>
          <a:ln/>
        </p:spPr>
      </p:sp>
      <p:sp>
        <p:nvSpPr>
          <p:cNvPr id="13" name="Text 10"/>
          <p:cNvSpPr/>
          <p:nvPr/>
        </p:nvSpPr>
        <p:spPr>
          <a:xfrm>
            <a:off x="2240280" y="5212080"/>
            <a:ext cx="1417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stable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3675888" y="5212080"/>
            <a:ext cx="329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4023360" y="5212080"/>
            <a:ext cx="1417320" cy="420624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</p:spPr>
      </p:sp>
      <p:sp>
        <p:nvSpPr>
          <p:cNvPr id="16" name="Text 13"/>
          <p:cNvSpPr/>
          <p:nvPr/>
        </p:nvSpPr>
        <p:spPr>
          <a:xfrm>
            <a:off x="4023360" y="5212080"/>
            <a:ext cx="1417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declining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457200" y="589788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媒介落差指数 MLI：四维信号综合判定产业拐点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00232" y="3474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/ 20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31089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LEARNING PATH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个性化学习路径 · 从差距到课程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071616" y="1517904"/>
            <a:ext cx="5687568" cy="4293108"/>
          </a:xfrm>
          <a:prstGeom prst="rect">
            <a:avLst/>
          </a:prstGeom>
          <a:solidFill>
            <a:srgbClr val="FFFFFF"/>
          </a:solidFill>
          <a:ln w="9525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25400" dir="2700000">
              <a:srgbClr val="1B3A5C">
                <a:alpha val="18000"/>
              </a:srgbClr>
            </a:outerShdw>
          </a:effectLst>
        </p:spPr>
      </p:sp>
      <p:pic>
        <p:nvPicPr>
          <p:cNvPr id="6" name="Image 0" descr="images/image-learningpath_4x3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126480" y="1572768"/>
            <a:ext cx="5577840" cy="41833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126480" y="585216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▲ 先修链拓扑排序 + 学时甘特呈现 · 课程 LEARNABLE_VIA 匹配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57200" y="1691640"/>
            <a:ext cx="53949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差距诊断：missing / weak 分级 + ROI 优先级排序（需求度 × 趋势 ÷ 成本）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先修链展开（177 技能字典）+ 拓扑排序，分阶段学时甘特呈现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课程匹配：图谱 LEARNABLE_VIA + 语义兜底 + 中英词面豁免 + 灰色带质量门控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专家评审定稿：30 案例合理性 96.7%（course 语义 0.879 / hours 0.916）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00232" y="3474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 / 20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31089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FRONTEND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前端可视化 · React 19 + ECharts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02336" y="1591056"/>
            <a:ext cx="6693408" cy="3813048"/>
          </a:xfrm>
          <a:prstGeom prst="rect">
            <a:avLst/>
          </a:prstGeom>
          <a:solidFill>
            <a:srgbClr val="FFFFFF"/>
          </a:solidFill>
          <a:ln w="9525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25400" dir="2700000">
              <a:srgbClr val="1B3A5C">
                <a:alpha val="18000"/>
              </a:srgbClr>
            </a:outerShdw>
          </a:effectLst>
        </p:spPr>
      </p:sp>
      <p:pic>
        <p:nvPicPr>
          <p:cNvPr id="6" name="Image 0" descr="images/image-graph_16x9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645920"/>
            <a:ext cx="6583680" cy="3703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57200" y="5486400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▲ 2D 力导向图谱全景 · ≥100 节点 @ 60fps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7315200" y="1645920"/>
            <a:ext cx="4389120" cy="1143000"/>
          </a:xfrm>
          <a:prstGeom prst="roundRect">
            <a:avLst>
              <a:gd name="adj" fmla="val 4800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0" y="178308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三视图切换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7498080" y="2121408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panorama · techStack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positionPortrait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7315200" y="2971800"/>
            <a:ext cx="4389120" cy="1143000"/>
          </a:xfrm>
          <a:prstGeom prst="roundRect">
            <a:avLst>
              <a:gd name="adj" fmla="val 4800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498080" y="310896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匹配可视化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498080" y="3447288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环形图 · 雷达图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热力图 · 甘特图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315200" y="4297680"/>
            <a:ext cx="4389120" cy="1143000"/>
          </a:xfrm>
          <a:prstGeom prst="roundRect">
            <a:avLst>
              <a:gd name="adj" fmla="val 4800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498080" y="443484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响应式适配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7498080" y="4773168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深浅双主题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平板/移动 2D 固定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7315200" y="571500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3D 可选（动态加载，WebGL2 不可用自动降级 2D）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00232" y="3474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/ 20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31089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PERFORMANCE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性能与压测 · P95 &lt; 2s 目标达成</a:t>
            </a:r>
            <a:endParaRPr lang="en-US" sz="29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645920"/>
          <a:ext cx="603504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5806440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Source: 100 并发压测基线（docs/perf_baseline_20260815.md），目标 P95 &lt; 2000ms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7315200" y="173736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B815F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&lt; 500ms</a:t>
            </a:r>
            <a:endParaRPr lang="en-US" sz="4400" dirty="0"/>
          </a:p>
        </p:txBody>
      </p:sp>
      <p:sp>
        <p:nvSpPr>
          <p:cNvPr id="8" name="Text 5"/>
          <p:cNvSpPr/>
          <p:nvPr/>
        </p:nvSpPr>
        <p:spPr>
          <a:xfrm>
            <a:off x="7315200" y="256032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 并发实测 P95（目标 &lt; 2s）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498080" y="3291840"/>
            <a:ext cx="39319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3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single-flight 缓存穿透合并</a:t>
            </a:r>
            <a:endParaRPr lang="en-US" sz="1350" dirty="0"/>
          </a:p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3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search 60s 缓存 + Neo4j 连接池扩容</a:t>
            </a:r>
            <a:endParaRPr lang="en-US" sz="1350" dirty="0"/>
          </a:p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3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全文检索 &lt; 500ms · pgvector &lt; 300ms</a:t>
            </a:r>
            <a:endParaRPr lang="en-US" sz="1350" dirty="0"/>
          </a:p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3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Redis 缓存命中率 ≥ 85%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00232" y="3474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 / 20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31089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EVALUATION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评测体系 · 三层闭环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112745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第一层 关键词基线（离线确定性）→ 第二层 LLM 盲审（人工 gold）→ 第三层 专家定稿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JD 解析六维评测：title / skills / bonus / education / experience / core_duties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全部指标均以人工标注或专家定稿为真值，非自评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2834640"/>
            <a:ext cx="2697480" cy="1965960"/>
          </a:xfrm>
          <a:prstGeom prst="roundRect">
            <a:avLst>
              <a:gd name="adj" fmla="val 3721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3063240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B815F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0.9632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457200" y="3913632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JD 解析 aligned F1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4261104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110 条 gold 词面豁免口径 · 目标 0.90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282696" y="2834640"/>
            <a:ext cx="2697480" cy="1965960"/>
          </a:xfrm>
          <a:prstGeom prst="roundRect">
            <a:avLst>
              <a:gd name="adj" fmla="val 3721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82696" y="3063240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0.988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3282696" y="3913632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简历解析 F1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282696" y="4261104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 条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108192" y="2834640"/>
            <a:ext cx="2697480" cy="1965960"/>
          </a:xfrm>
          <a:prstGeom prst="roundRect">
            <a:avLst>
              <a:gd name="adj" fmla="val 3721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08192" y="3063240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0.9714</a:t>
            </a:r>
            <a:endParaRPr lang="en-US" sz="4000" dirty="0"/>
          </a:p>
        </p:txBody>
      </p:sp>
      <p:sp>
        <p:nvSpPr>
          <p:cNvPr id="16" name="Text 14"/>
          <p:cNvSpPr/>
          <p:nvPr/>
        </p:nvSpPr>
        <p:spPr>
          <a:xfrm>
            <a:off x="6108192" y="3913632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人岗匹配 Acc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108192" y="4261104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384 对黄金集含学历维度（BT v4）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933688" y="2834640"/>
            <a:ext cx="2697480" cy="1965960"/>
          </a:xfrm>
          <a:prstGeom prst="roundRect">
            <a:avLst>
              <a:gd name="adj" fmla="val 3721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33688" y="3063240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96.7%</a:t>
            </a:r>
            <a:endParaRPr lang="en-US" sz="4000" dirty="0"/>
          </a:p>
        </p:txBody>
      </p:sp>
      <p:sp>
        <p:nvSpPr>
          <p:cNvPr id="20" name="Text 18"/>
          <p:cNvSpPr/>
          <p:nvPr/>
        </p:nvSpPr>
        <p:spPr>
          <a:xfrm>
            <a:off x="8933688" y="3913632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学习路径合理性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33688" y="4261104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 案例专家定稿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457200" y="51663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Source: 评测产物记录代码版本与 gold 口径；aligned=别名豁免 + 词面真值对齐口径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00232" y="3474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 / 20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31089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SECURITY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安全与合规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1600200"/>
            <a:ext cx="1737360" cy="566928"/>
          </a:xfrm>
          <a:prstGeom prst="roundRect">
            <a:avLst>
              <a:gd name="adj" fmla="val 12903"/>
            </a:avLst>
          </a:prstGeom>
          <a:solidFill>
            <a:srgbClr val="EDF2F8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600200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PII 脱敏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2514600" y="1655064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简历隔离存储 + 敏感字段掩码后方送入 LLM，符合 PIPL / GDPR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514600" y="2496312"/>
            <a:ext cx="9052560" cy="0"/>
          </a:xfrm>
          <a:prstGeom prst="line">
            <a:avLst/>
          </a:prstGeom>
          <a:noFill/>
          <a:ln w="9525">
            <a:solidFill>
              <a:srgbClr val="E3EAF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2770632"/>
            <a:ext cx="1737360" cy="566928"/>
          </a:xfrm>
          <a:prstGeom prst="roundRect">
            <a:avLst>
              <a:gd name="adj" fmla="val 12903"/>
            </a:avLst>
          </a:prstGeom>
          <a:solidFill>
            <a:srgbClr val="EDF2F8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770632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认证与权限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514600" y="2825496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RBAC 三级角色（admin/user/guest）+ 双 Token + 登出黑名单 + 弱口令门禁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514600" y="3666744"/>
            <a:ext cx="9052560" cy="0"/>
          </a:xfrm>
          <a:prstGeom prst="line">
            <a:avLst/>
          </a:prstGeom>
          <a:noFill/>
          <a:ln w="9525">
            <a:solidFill>
              <a:srgbClr val="E3EAF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3941064"/>
            <a:ext cx="1737360" cy="566928"/>
          </a:xfrm>
          <a:prstGeom prst="roundRect">
            <a:avLst>
              <a:gd name="adj" fmla="val 12903"/>
            </a:avLst>
          </a:prstGeom>
          <a:solidFill>
            <a:srgbClr val="EDF2F8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3941064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接口防护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2514600" y="3995928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限流中间件 100 req/min/IP + 统一错误码契约（openapi.yaml 单一事实源）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2514600" y="4837176"/>
            <a:ext cx="9052560" cy="0"/>
          </a:xfrm>
          <a:prstGeom prst="line">
            <a:avLst/>
          </a:prstGeom>
          <a:noFill/>
          <a:ln w="9525">
            <a:solidFill>
              <a:srgbClr val="E3EAF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200" y="5111496"/>
            <a:ext cx="1737360" cy="566928"/>
          </a:xfrm>
          <a:prstGeom prst="roundRect">
            <a:avLst>
              <a:gd name="adj" fmla="val 12903"/>
            </a:avLst>
          </a:prstGeom>
          <a:solidFill>
            <a:srgbClr val="EDF2F8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5111496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数据合规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2514600" y="5166360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仅采集公开元数据 + robots 遵循 + 学术非商业用途声明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00232" y="3474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 / 20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31089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DATA SCALE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数据规模（实况快照）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1645920"/>
            <a:ext cx="3611880" cy="1691640"/>
          </a:xfrm>
          <a:prstGeom prst="roundRect">
            <a:avLst>
              <a:gd name="adj" fmla="val 4324"/>
            </a:avLst>
          </a:prstGeom>
          <a:solidFill>
            <a:srgbClr val="EDF2F8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901952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5,916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457200" y="2688336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Skill 技能节点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197096" y="1645920"/>
            <a:ext cx="3611880" cy="1691640"/>
          </a:xfrm>
          <a:prstGeom prst="roundRect">
            <a:avLst>
              <a:gd name="adj" fmla="val 4324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97096" y="1901952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120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4197096" y="2688336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Position 岗位节点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936992" y="1645920"/>
            <a:ext cx="3611880" cy="1691640"/>
          </a:xfrm>
          <a:prstGeom prst="roundRect">
            <a:avLst>
              <a:gd name="adj" fmla="val 4324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36992" y="1901952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1,473</a:t>
            </a:r>
            <a:endParaRPr lang="en-US" sz="3800" dirty="0"/>
          </a:p>
        </p:txBody>
      </p:sp>
      <p:sp>
        <p:nvSpPr>
          <p:cNvPr id="13" name="Text 11"/>
          <p:cNvSpPr/>
          <p:nvPr/>
        </p:nvSpPr>
        <p:spPr>
          <a:xfrm>
            <a:off x="7936992" y="2688336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课程（三门平台）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3566160"/>
            <a:ext cx="3611880" cy="1691640"/>
          </a:xfrm>
          <a:prstGeom prst="roundRect">
            <a:avLst>
              <a:gd name="adj" fmla="val 4324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822192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9,820</a:t>
            </a:r>
            <a:endParaRPr lang="en-US" sz="3800" dirty="0"/>
          </a:p>
        </p:txBody>
      </p:sp>
      <p:sp>
        <p:nvSpPr>
          <p:cNvPr id="16" name="Text 14"/>
          <p:cNvSpPr/>
          <p:nvPr/>
        </p:nvSpPr>
        <p:spPr>
          <a:xfrm>
            <a:off x="457200" y="4608576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jd_raw 全量抽取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197096" y="3566160"/>
            <a:ext cx="3611880" cy="1691640"/>
          </a:xfrm>
          <a:prstGeom prst="roundRect">
            <a:avLst>
              <a:gd name="adj" fmla="val 4324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197096" y="3822192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177</a:t>
            </a:r>
            <a:endParaRPr lang="en-US" sz="3800" dirty="0"/>
          </a:p>
        </p:txBody>
      </p:sp>
      <p:sp>
        <p:nvSpPr>
          <p:cNvPr id="19" name="Text 17"/>
          <p:cNvSpPr/>
          <p:nvPr/>
        </p:nvSpPr>
        <p:spPr>
          <a:xfrm>
            <a:off x="4197096" y="4608576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先修链技能字典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7936992" y="3566160"/>
            <a:ext cx="3611880" cy="1691640"/>
          </a:xfrm>
          <a:prstGeom prst="roundRect">
            <a:avLst>
              <a:gd name="adj" fmla="val 4324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36992" y="3822192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110 + 50</a:t>
            </a:r>
            <a:endParaRPr lang="en-US" sz="3800" dirty="0"/>
          </a:p>
        </p:txBody>
      </p:sp>
      <p:sp>
        <p:nvSpPr>
          <p:cNvPr id="22" name="Text 20"/>
          <p:cNvSpPr/>
          <p:nvPr/>
        </p:nvSpPr>
        <p:spPr>
          <a:xfrm>
            <a:off x="7936992" y="4608576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JD / 简历黄金集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57200" y="562356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另有：10 职能域（5 大骨干 + 4 显式语义域 + 通用兜底）· 技能分类权威覆盖 23.9%（用户可见视图 91.7%）· 匹配黄金对 v1/v2 684 组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457200" y="6263640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注：数据截至 graph_v20260903 快照（17705 节点/73575 边）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00232" y="3474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 / 20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31089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TEAM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团队分工 · 6 人协作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1645920"/>
            <a:ext cx="3611880" cy="1920240"/>
          </a:xfrm>
          <a:prstGeom prst="roundRect">
            <a:avLst>
              <a:gd name="adj" fmla="val 3810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938528"/>
            <a:ext cx="713232" cy="713232"/>
          </a:xfrm>
          <a:prstGeom prst="ellipse">
            <a:avLst/>
          </a:prstGeom>
          <a:solidFill>
            <a:srgbClr val="1B3A5C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938528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前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600200" y="1956816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黄唐尧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600200" y="2359152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前端负责人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" y="283464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图谱可视化 / 交互 / 匹配页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197096" y="1645920"/>
            <a:ext cx="3611880" cy="1920240"/>
          </a:xfrm>
          <a:prstGeom prst="roundRect">
            <a:avLst>
              <a:gd name="adj" fmla="val 3810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71416" y="1938528"/>
            <a:ext cx="713232" cy="713232"/>
          </a:xfrm>
          <a:prstGeom prst="ellipse">
            <a:avLst/>
          </a:prstGeom>
          <a:solidFill>
            <a:srgbClr val="2E5F8A"/>
          </a:solidFill>
          <a:ln/>
        </p:spPr>
      </p:sp>
      <p:sp>
        <p:nvSpPr>
          <p:cNvPr id="13" name="Text 11"/>
          <p:cNvSpPr/>
          <p:nvPr/>
        </p:nvSpPr>
        <p:spPr>
          <a:xfrm>
            <a:off x="4471416" y="1938528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后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5340096" y="1956816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马兴达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5340096" y="2359152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后端负责人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471416" y="283464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API 服务 / 部署 / 数据库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7936992" y="1645920"/>
            <a:ext cx="3611880" cy="1920240"/>
          </a:xfrm>
          <a:prstGeom prst="roundRect">
            <a:avLst>
              <a:gd name="adj" fmla="val 3810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11312" y="1938528"/>
            <a:ext cx="713232" cy="713232"/>
          </a:xfrm>
          <a:prstGeom prst="ellipse">
            <a:avLst/>
          </a:prstGeom>
          <a:solidFill>
            <a:srgbClr val="1B3A5C"/>
          </a:solidFill>
          <a:ln/>
        </p:spPr>
      </p:sp>
      <p:sp>
        <p:nvSpPr>
          <p:cNvPr id="19" name="Text 17"/>
          <p:cNvSpPr/>
          <p:nvPr/>
        </p:nvSpPr>
        <p:spPr>
          <a:xfrm>
            <a:off x="8211312" y="1938528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算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9079992" y="1956816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张恺天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9079992" y="2359152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算法负责人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211312" y="283464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图谱构建 / 匹配引擎 / 演化算法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457200" y="3794760"/>
            <a:ext cx="3611880" cy="1920240"/>
          </a:xfrm>
          <a:prstGeom prst="roundRect">
            <a:avLst>
              <a:gd name="adj" fmla="val 3810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31520" y="4087368"/>
            <a:ext cx="713232" cy="713232"/>
          </a:xfrm>
          <a:prstGeom prst="ellipse">
            <a:avLst/>
          </a:prstGeom>
          <a:solidFill>
            <a:srgbClr val="2E5F8A"/>
          </a:solidFill>
          <a:ln/>
        </p:spPr>
      </p:sp>
      <p:sp>
        <p:nvSpPr>
          <p:cNvPr id="25" name="Text 23"/>
          <p:cNvSpPr/>
          <p:nvPr/>
        </p:nvSpPr>
        <p:spPr>
          <a:xfrm>
            <a:off x="731520" y="4087368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数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1600200" y="4105656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刘琪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1600200" y="4507992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数据负责人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731520" y="498348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 源采集 / 清洗管线 / 数据治理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4197096" y="3794760"/>
            <a:ext cx="3611880" cy="1920240"/>
          </a:xfrm>
          <a:prstGeom prst="roundRect">
            <a:avLst>
              <a:gd name="adj" fmla="val 3810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471416" y="4087368"/>
            <a:ext cx="713232" cy="713232"/>
          </a:xfrm>
          <a:prstGeom prst="ellipse">
            <a:avLst/>
          </a:prstGeom>
          <a:solidFill>
            <a:srgbClr val="1B3A5C"/>
          </a:solidFill>
          <a:ln/>
        </p:spPr>
      </p:sp>
      <p:sp>
        <p:nvSpPr>
          <p:cNvPr id="31" name="Text 29"/>
          <p:cNvSpPr/>
          <p:nvPr/>
        </p:nvSpPr>
        <p:spPr>
          <a:xfrm>
            <a:off x="4471416" y="4087368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测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5340096" y="4105656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王鹏羽</a:t>
            </a:r>
            <a:endParaRPr lang="en-US" sz="1700" dirty="0"/>
          </a:p>
        </p:txBody>
      </p:sp>
      <p:sp>
        <p:nvSpPr>
          <p:cNvPr id="33" name="Text 31"/>
          <p:cNvSpPr/>
          <p:nvPr/>
        </p:nvSpPr>
        <p:spPr>
          <a:xfrm>
            <a:off x="5340096" y="4507992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测试负责人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4471416" y="498348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评测体系 / 性能压测 / 黄金集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7936992" y="3794760"/>
            <a:ext cx="3611880" cy="1920240"/>
          </a:xfrm>
          <a:prstGeom prst="roundRect">
            <a:avLst>
              <a:gd name="adj" fmla="val 3810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211312" y="4087368"/>
            <a:ext cx="713232" cy="713232"/>
          </a:xfrm>
          <a:prstGeom prst="ellipse">
            <a:avLst/>
          </a:prstGeom>
          <a:solidFill>
            <a:srgbClr val="2E5F8A"/>
          </a:solidFill>
          <a:ln/>
        </p:spPr>
      </p:sp>
      <p:sp>
        <p:nvSpPr>
          <p:cNvPr id="37" name="Text 35"/>
          <p:cNvSpPr/>
          <p:nvPr/>
        </p:nvSpPr>
        <p:spPr>
          <a:xfrm>
            <a:off x="8211312" y="4087368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文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9079992" y="4105656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张怀伟</a:t>
            </a:r>
            <a:endParaRPr lang="en-US" sz="1700" dirty="0"/>
          </a:p>
        </p:txBody>
      </p:sp>
      <p:sp>
        <p:nvSpPr>
          <p:cNvPr id="39" name="Text 37"/>
          <p:cNvSpPr/>
          <p:nvPr/>
        </p:nvSpPr>
        <p:spPr>
          <a:xfrm>
            <a:off x="9079992" y="4507992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文档负责人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8211312" y="498348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方案文档 / PPT / 演示视频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00232" y="3474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 / 20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31089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MILESTONES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项目里程碑 · 55 天全链路交付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822960" y="2514600"/>
            <a:ext cx="10543032" cy="0"/>
          </a:xfrm>
          <a:prstGeom prst="line">
            <a:avLst/>
          </a:prstGeom>
          <a:noFill/>
          <a:ln w="25400">
            <a:solidFill>
              <a:srgbClr val="C9D7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837944" y="2432304"/>
            <a:ext cx="164592" cy="164592"/>
          </a:xfrm>
          <a:prstGeom prst="ellipse">
            <a:avLst/>
          </a:prstGeom>
          <a:solidFill>
            <a:srgbClr val="1B3A5C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7830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M1-M2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594360" y="272491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07.13-08.05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94360" y="3154680"/>
            <a:ext cx="2651760" cy="1554480"/>
          </a:xfrm>
          <a:prstGeom prst="roundRect">
            <a:avLst>
              <a:gd name="adj" fmla="val 4706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3310128"/>
            <a:ext cx="2286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方案设计 + 核心实现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采集 / 图谱 / 抽取 / 匹配 / 演化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99432" y="2432304"/>
            <a:ext cx="164592" cy="164592"/>
          </a:xfrm>
          <a:prstGeom prst="ellipse">
            <a:avLst/>
          </a:prstGeom>
          <a:solidFill>
            <a:srgbClr val="1B3A5C"/>
          </a:solidFill>
          <a:ln/>
        </p:spPr>
      </p:sp>
      <p:sp>
        <p:nvSpPr>
          <p:cNvPr id="12" name="Text 10"/>
          <p:cNvSpPr/>
          <p:nvPr/>
        </p:nvSpPr>
        <p:spPr>
          <a:xfrm>
            <a:off x="3355848" y="17830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M3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3355848" y="272491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08.06-15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355848" y="3154680"/>
            <a:ext cx="2651760" cy="1554480"/>
          </a:xfrm>
          <a:prstGeom prst="roundRect">
            <a:avLst>
              <a:gd name="adj" fmla="val 4706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538728" y="3310128"/>
            <a:ext cx="2286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功能完善 + 评测体系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学习路径专家定稿 96.7%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360920" y="2432304"/>
            <a:ext cx="164592" cy="164592"/>
          </a:xfrm>
          <a:prstGeom prst="ellipse">
            <a:avLst/>
          </a:prstGeom>
          <a:solidFill>
            <a:srgbClr val="1B3A5C"/>
          </a:solidFill>
          <a:ln/>
        </p:spPr>
      </p:sp>
      <p:sp>
        <p:nvSpPr>
          <p:cNvPr id="17" name="Text 15"/>
          <p:cNvSpPr/>
          <p:nvPr/>
        </p:nvSpPr>
        <p:spPr>
          <a:xfrm>
            <a:off x="6117336" y="17830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M4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6117336" y="272491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08.16-25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117336" y="3154680"/>
            <a:ext cx="2651760" cy="1554480"/>
          </a:xfrm>
          <a:prstGeom prst="roundRect">
            <a:avLst>
              <a:gd name="adj" fmla="val 4706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00216" y="3310128"/>
            <a:ext cx="2286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打磨 + 审查 + 性能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高危修复 · P95 达标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10122408" y="2432304"/>
            <a:ext cx="164592" cy="164592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22" name="Text 20"/>
          <p:cNvSpPr/>
          <p:nvPr/>
        </p:nvSpPr>
        <p:spPr>
          <a:xfrm>
            <a:off x="8878824" y="17830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815F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M5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8878824" y="272491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08.26-09.04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878824" y="3154680"/>
            <a:ext cx="2651760" cy="1554480"/>
          </a:xfrm>
          <a:prstGeom prst="roundRect">
            <a:avLst>
              <a:gd name="adj" fmla="val 4706"/>
            </a:avLst>
          </a:prstGeom>
          <a:solidFill>
            <a:srgbClr val="EDF2F8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061704" y="3310128"/>
            <a:ext cx="2286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准确率收尾 + 交付物料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PPT / 视频 / 源码包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457200" y="521208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全程：480+ PR · CI 全绿门禁 · 六轮全项目代码审查 · 双机部署实测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00232" y="3474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 / 20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31089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RESULTS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关键成果数据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457200" y="164592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0B815F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0.9632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457200" y="2542032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JD 解析 aligned F1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290779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≥0.90 达标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85800" y="3429000"/>
            <a:ext cx="3154680" cy="0"/>
          </a:xfrm>
          <a:prstGeom prst="line">
            <a:avLst/>
          </a:prstGeom>
          <a:noFill/>
          <a:ln w="9525">
            <a:solidFill>
              <a:srgbClr val="E3EAF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97096" y="164592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0.9714</a:t>
            </a:r>
            <a:endParaRPr lang="en-US" sz="4600" dirty="0"/>
          </a:p>
        </p:txBody>
      </p:sp>
      <p:sp>
        <p:nvSpPr>
          <p:cNvPr id="10" name="Text 8"/>
          <p:cNvSpPr/>
          <p:nvPr/>
        </p:nvSpPr>
        <p:spPr>
          <a:xfrm>
            <a:off x="4197096" y="2542032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人岗匹配 Acc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197096" y="290779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384 对黄金集含学历维度（BT v4）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425696" y="3429000"/>
            <a:ext cx="3154680" cy="0"/>
          </a:xfrm>
          <a:prstGeom prst="line">
            <a:avLst/>
          </a:prstGeom>
          <a:noFill/>
          <a:ln w="9525">
            <a:solidFill>
              <a:srgbClr val="E3EAF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36992" y="164592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96.7%</a:t>
            </a:r>
            <a:endParaRPr lang="en-US" sz="4600" dirty="0"/>
          </a:p>
        </p:txBody>
      </p:sp>
      <p:sp>
        <p:nvSpPr>
          <p:cNvPr id="14" name="Text 12"/>
          <p:cNvSpPr/>
          <p:nvPr/>
        </p:nvSpPr>
        <p:spPr>
          <a:xfrm>
            <a:off x="7936992" y="2542032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学习路径合理性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936992" y="290779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 案例专家定稿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65592" y="3429000"/>
            <a:ext cx="3154680" cy="0"/>
          </a:xfrm>
          <a:prstGeom prst="line">
            <a:avLst/>
          </a:prstGeom>
          <a:noFill/>
          <a:ln w="9525">
            <a:solidFill>
              <a:srgbClr val="E3EAF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84048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91.7%</a:t>
            </a:r>
            <a:endParaRPr lang="en-US" sz="4600" dirty="0"/>
          </a:p>
        </p:txBody>
      </p:sp>
      <p:sp>
        <p:nvSpPr>
          <p:cNvPr id="18" name="Text 16"/>
          <p:cNvSpPr/>
          <p:nvPr/>
        </p:nvSpPr>
        <p:spPr>
          <a:xfrm>
            <a:off x="457200" y="4736592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技能分类视图覆盖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57200" y="510235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权威覆盖 12.8% → 23.9%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85800" y="5623560"/>
            <a:ext cx="3154680" cy="0"/>
          </a:xfrm>
          <a:prstGeom prst="line">
            <a:avLst/>
          </a:prstGeom>
          <a:noFill/>
          <a:ln w="9525">
            <a:solidFill>
              <a:srgbClr val="E3EAF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197096" y="384048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430ms</a:t>
            </a:r>
            <a:endParaRPr lang="en-US" sz="4600" dirty="0"/>
          </a:p>
        </p:txBody>
      </p:sp>
      <p:sp>
        <p:nvSpPr>
          <p:cNvPr id="22" name="Text 20"/>
          <p:cNvSpPr/>
          <p:nvPr/>
        </p:nvSpPr>
        <p:spPr>
          <a:xfrm>
            <a:off x="4197096" y="4736592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图谱全景 P95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197096" y="510235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 并发 · 目标 &lt;2s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425696" y="5623560"/>
            <a:ext cx="3154680" cy="0"/>
          </a:xfrm>
          <a:prstGeom prst="line">
            <a:avLst/>
          </a:prstGeom>
          <a:noFill/>
          <a:ln w="9525">
            <a:solidFill>
              <a:srgbClr val="E3EAF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936992" y="384048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480+</a:t>
            </a:r>
            <a:endParaRPr lang="en-US" sz="4600" dirty="0"/>
          </a:p>
        </p:txBody>
      </p:sp>
      <p:sp>
        <p:nvSpPr>
          <p:cNvPr id="26" name="Text 24"/>
          <p:cNvSpPr/>
          <p:nvPr/>
        </p:nvSpPr>
        <p:spPr>
          <a:xfrm>
            <a:off x="7936992" y="4736592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 · ~71k 行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936992" y="510235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CI 全绿 · 六轮审查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00232" y="3474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 / 20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31089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DIFFERENTIATION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创新与差异化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2834640" y="14173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传统做法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223760" y="14173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智岗罗盘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" y="1874520"/>
            <a:ext cx="2194560" cy="658368"/>
          </a:xfrm>
          <a:prstGeom prst="roundRect">
            <a:avLst>
              <a:gd name="adj" fmla="val 8333"/>
            </a:avLst>
          </a:prstGeom>
          <a:solidFill>
            <a:srgbClr val="EDF2F8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874520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岗位能力画像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2834640" y="1874520"/>
            <a:ext cx="3840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静态文档，更新以月/年计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693408" y="1874520"/>
            <a:ext cx="457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7223760" y="1874520"/>
            <a:ext cx="4572000" cy="658368"/>
          </a:xfrm>
          <a:prstGeom prst="roundRect">
            <a:avLst>
              <a:gd name="adj" fmla="val 8333"/>
            </a:avLst>
          </a:prstGeom>
          <a:solidFill>
            <a:srgbClr val="F7FAFD"/>
          </a:solidFill>
          <a:ln w="9525">
            <a:solidFill>
              <a:srgbClr val="BFDCC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60920" y="1874520"/>
            <a:ext cx="4297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动态演化图谱，随技术趋势自我更新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770632"/>
            <a:ext cx="2194560" cy="658368"/>
          </a:xfrm>
          <a:prstGeom prst="roundRect">
            <a:avLst>
              <a:gd name="adj" fmla="val 8333"/>
            </a:avLst>
          </a:prstGeom>
          <a:solidFill>
            <a:srgbClr val="EDF2F8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2770632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数据可信度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2834640" y="2770632"/>
            <a:ext cx="3840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单源 JD 关键词，信号失真即污染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693408" y="2770632"/>
            <a:ext cx="457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7223760" y="2770632"/>
            <a:ext cx="4572000" cy="658368"/>
          </a:xfrm>
          <a:prstGeom prst="roundRect">
            <a:avLst>
              <a:gd name="adj" fmla="val 8333"/>
            </a:avLst>
          </a:prstGeom>
          <a:solidFill>
            <a:srgbClr val="F7FAFD"/>
          </a:solidFill>
          <a:ln w="9525">
            <a:solidFill>
              <a:srgbClr val="BFDCC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60920" y="2770632"/>
            <a:ext cx="4297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四源交叉验证 + 每日一致性看板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57200" y="3666744"/>
            <a:ext cx="2194560" cy="658368"/>
          </a:xfrm>
          <a:prstGeom prst="roundRect">
            <a:avLst>
              <a:gd name="adj" fmla="val 8333"/>
            </a:avLst>
          </a:prstGeom>
          <a:solidFill>
            <a:srgbClr val="EDF2F8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3666744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匹配粒度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2834640" y="3666744"/>
            <a:ext cx="3840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关键词命中，粗粒度打分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693408" y="3666744"/>
            <a:ext cx="457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7223760" y="3666744"/>
            <a:ext cx="4572000" cy="658368"/>
          </a:xfrm>
          <a:prstGeom prst="roundRect">
            <a:avLst>
              <a:gd name="adj" fmla="val 8333"/>
            </a:avLst>
          </a:prstGeom>
          <a:solidFill>
            <a:srgbClr val="F7FAFD"/>
          </a:solidFill>
          <a:ln w="9525">
            <a:solidFill>
              <a:srgbClr val="BFDCC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360920" y="3666744"/>
            <a:ext cx="4297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技能级三维评分 + 差距三态诊断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57200" y="4562856"/>
            <a:ext cx="2194560" cy="658368"/>
          </a:xfrm>
          <a:prstGeom prst="roundRect">
            <a:avLst>
              <a:gd name="adj" fmla="val 8333"/>
            </a:avLst>
          </a:prstGeom>
          <a:solidFill>
            <a:srgbClr val="EDF2F8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7200" y="4562856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后续动作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2834640" y="4562856"/>
            <a:ext cx="3840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匹配即终点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693408" y="4562856"/>
            <a:ext cx="457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7223760" y="4562856"/>
            <a:ext cx="4572000" cy="658368"/>
          </a:xfrm>
          <a:prstGeom prst="roundRect">
            <a:avLst>
              <a:gd name="adj" fmla="val 8333"/>
            </a:avLst>
          </a:prstGeom>
          <a:solidFill>
            <a:srgbClr val="F7FAFD"/>
          </a:solidFill>
          <a:ln w="9525">
            <a:solidFill>
              <a:srgbClr val="BFDCC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360920" y="4562856"/>
            <a:ext cx="4297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差距 → 先修链 → 课程 → 学时的闭环路径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457200" y="5458968"/>
            <a:ext cx="2194560" cy="658368"/>
          </a:xfrm>
          <a:prstGeom prst="roundRect">
            <a:avLst>
              <a:gd name="adj" fmla="val 8333"/>
            </a:avLst>
          </a:prstGeom>
          <a:solidFill>
            <a:srgbClr val="EDF2F8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7200" y="5458968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LLM 可信度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2834640" y="5458968"/>
            <a:ext cx="3840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生成即采信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693408" y="5458968"/>
            <a:ext cx="457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800" dirty="0"/>
          </a:p>
        </p:txBody>
      </p:sp>
      <p:sp>
        <p:nvSpPr>
          <p:cNvPr id="35" name="Shape 33"/>
          <p:cNvSpPr/>
          <p:nvPr/>
        </p:nvSpPr>
        <p:spPr>
          <a:xfrm>
            <a:off x="7223760" y="5458968"/>
            <a:ext cx="4572000" cy="658368"/>
          </a:xfrm>
          <a:prstGeom prst="roundRect">
            <a:avLst>
              <a:gd name="adj" fmla="val 8333"/>
            </a:avLst>
          </a:prstGeom>
          <a:solidFill>
            <a:srgbClr val="F7FAFD"/>
          </a:solidFill>
          <a:ln w="9525">
            <a:solidFill>
              <a:srgbClr val="BFDCC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360920" y="5458968"/>
            <a:ext cx="4297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三道防线 + 全量决策可回放审计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ages/bg-closing_16x9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B2D">
              <a:alpha val="60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9144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FD4B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SUMMARY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57200" y="1280160"/>
            <a:ext cx="11274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全链路闭环 · 评测达标 · 演示就绪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457200" y="2377440"/>
            <a:ext cx="112745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200"/>
              </a:spcAft>
              <a:buSzPct val="100000"/>
              <a:buChar char="▸"/>
            </a:pPr>
            <a:r>
              <a:rPr lang="en-US" sz="1550" dirty="0">
                <a:solidFill>
                  <a:srgbClr val="D8E4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采集 → 图谱 → 抽取 → 匹配 → 演化 → 学习路径，55 天完成全链路真实数据闭环</a:t>
            </a:r>
            <a:endParaRPr lang="en-US" sz="1550" dirty="0"/>
          </a:p>
          <a:p>
            <a:pPr marL="152400" indent="-152400">
              <a:spcAft>
                <a:spcPts val="1200"/>
              </a:spcAft>
              <a:buSzPct val="100000"/>
              <a:buChar char="▸"/>
            </a:pPr>
            <a:r>
              <a:rPr lang="en-US" sz="1550" dirty="0">
                <a:solidFill>
                  <a:srgbClr val="D8E4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四项核心指标全部达标：JD 解析 0.9632 · 匹配 0.9714 · 学习路径 96.7% · P95 430ms</a:t>
            </a:r>
            <a:endParaRPr lang="en-US" sz="1550" dirty="0"/>
          </a:p>
          <a:p>
            <a:pPr marL="152400" indent="-152400">
              <a:spcAft>
                <a:spcPts val="1200"/>
              </a:spcAft>
              <a:buSzPct val="100000"/>
              <a:buChar char="▸"/>
            </a:pPr>
            <a:r>
              <a:rPr lang="en-US" sz="1550" dirty="0">
                <a:solidFill>
                  <a:srgbClr val="D8E4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展望：新岗位自动发现（种子引导 + 自动判定）· 数字化迁移领域扩展</a:t>
            </a:r>
            <a:endParaRPr lang="en-US" sz="1550" dirty="0"/>
          </a:p>
        </p:txBody>
      </p:sp>
      <p:sp>
        <p:nvSpPr>
          <p:cNvPr id="7" name="Text 4"/>
          <p:cNvSpPr/>
          <p:nvPr/>
        </p:nvSpPr>
        <p:spPr>
          <a:xfrm>
            <a:off x="457200" y="493776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感谢各位评委聆听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457200" y="585216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4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智岗罗盘团队 · XH-202621 · 2026.09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智岗罗盘——多源异构驱动的岗位能力动态演化与人岗匹配系统</dc:title>
  <dc:subject>PptxGenJS Presentation</dc:subject>
  <dc:creator>智岗罗盘团队</dc:creator>
  <cp:lastModifiedBy>智岗罗盘团队</cp:lastModifiedBy>
  <cp:revision>1</cp:revision>
  <dcterms:created xsi:type="dcterms:W3CDTF">2026-09-03T13:31:58Z</dcterms:created>
  <dcterms:modified xsi:type="dcterms:W3CDTF">2026-09-03T13:31:58Z</dcterms:modified>
</cp:coreProperties>
</file>