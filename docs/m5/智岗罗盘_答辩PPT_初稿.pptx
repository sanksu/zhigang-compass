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实测 P95 (ms)</c:v>
                </c:pt>
              </c:strCache>
            </c:strRef>
          </c:tx>
          <c:spPr>
            <a:solidFill>
              <a:srgbClr val="2E5F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3A5C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5F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panorama（图谱全景）</c:v>
                  </c:pt>
                  <c:pt idx="1">
                    <c:v>search（全文检索）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430</c:v>
                </c:pt>
                <c:pt idx="1">
                  <c:v>390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3A5C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</c:scaling>
        <c:delete val="0"/>
        <c:axPos val="l"/>
        <c:majorGridlines>
          <c:spPr>
            <a:ln w="635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m5/assets/S5-graph-panoram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7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1371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科大讯飞挑战杯 · 揭榜挂帅    项目编号 XH-202621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2148840"/>
            <a:ext cx="112745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457200" y="331012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多源异构驱动的岗位能力动态演化与人岗匹配系统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457200" y="44348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项目周期 2026.07.13 — 09.05    ·    团队 6 人（前端 / 后端 / 算法 / 数据 / 测试 / 文档）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4297680"/>
            <a:ext cx="2926080" cy="0"/>
          </a:xfrm>
          <a:prstGeom prst="line">
            <a:avLst/>
          </a:prstGeom>
          <a:noFill/>
          <a:ln w="31750">
            <a:solidFill>
              <a:srgbClr val="10B98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项目背景与行业痛点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426464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0" y="14813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技术迭代 远快于 人才培养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883664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大模型每季度出现新方向，本科培养周期 4 年——技能供给天然滞后于岗位需求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645920" y="2450592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33472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645920" y="26883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结构性供需错配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645920" y="309067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企业「招不到合适的人」，求职者「不知道学什么」——缺一个可量化的能力坐标参照系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645920" y="3657600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840480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645920" y="389534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招聘 JD 三大顽疾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45920" y="429768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时滞（沿用 3 年前要求） · 抄袭（同质化严重） · 通胀（要求虚高）——JD 信号本身失真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645920" y="4864608"/>
            <a:ext cx="960120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504748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3D2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645920" y="510235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传统匹配停留在关键词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45920" y="550468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无技能级差距诊断、无个性化学习路径——「匹不配得上」说不清，「差什么」更说不清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核心创新点（3 + 1）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EDF2F8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0020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34840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核心竞争力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从「静态画像」到「动态感知」——岗位能力图谱随技术趋势自我进化，新兴/衰退信号驱动更新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44768" y="1554480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75564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7287768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多源交叉验证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122408" y="188366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37376" y="2487168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× 课程 × 论文/社区 × 国家职业分类四源融合，每日计算一致性并在看板展示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60020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技能级人岗匹配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34840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落地闭环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三维加权评分 + 差距三态诊断 + 个性化学习路径——回答「差什么、学什么、怎么学」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44768" y="3950208"/>
            <a:ext cx="5394960" cy="2121408"/>
          </a:xfrm>
          <a:prstGeom prst="roundRect">
            <a:avLst>
              <a:gd name="adj" fmla="val 3448"/>
            </a:avLst>
          </a:prstGeom>
          <a:solidFill>
            <a:srgbClr val="F7FAFD"/>
          </a:solidFill>
          <a:ln w="9525">
            <a:solidFill>
              <a:srgbClr val="DCE6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1513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9C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7287768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幻觉防控三道防线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22408" y="42793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工程护栏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37376" y="4882896"/>
            <a:ext cx="4828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Schema 强校验 → 词典/白名单过滤 → 证据链可追溯，LLM 输出全量可回放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系统总体架构 · 五服务容器化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282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48840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8840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统一 API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19 前端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27064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同端口静态托管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66176" y="1691640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69164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CORS/CSP/限流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94476" y="2651760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" y="2962656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2735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图谱/算法层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148840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 图谱+cjk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187952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87952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pgvector 向量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27064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27064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匹配/演化引擎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66176" y="3236976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6176" y="323697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抽取管线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94476" y="4197096"/>
            <a:ext cx="0" cy="274320"/>
          </a:xfrm>
          <a:prstGeom prst="line">
            <a:avLst/>
          </a:prstGeom>
          <a:noFill/>
          <a:ln w="22225">
            <a:solidFill>
              <a:srgbClr val="2E5F8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57200" y="4507992"/>
            <a:ext cx="11274552" cy="1170432"/>
          </a:xfrm>
          <a:prstGeom prst="roundRect">
            <a:avLst>
              <a:gd name="adj" fmla="val 4688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18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采集层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148840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48840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源三级爬虫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187952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87952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代理池三梯队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227064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27064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SimHash 去重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66176" y="4782312"/>
            <a:ext cx="178308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66176" y="478231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质量评分管线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59436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五服务容器化部署（docker compose 一键启动，全服务健康检查）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7200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39" name="Text 37"/>
          <p:cNvSpPr/>
          <p:nvPr/>
        </p:nvSpPr>
        <p:spPr>
          <a:xfrm>
            <a:off x="457200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670048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1" name="Text 39"/>
          <p:cNvSpPr/>
          <p:nvPr/>
        </p:nvSpPr>
        <p:spPr>
          <a:xfrm>
            <a:off x="2670048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 + pgvector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82896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3" name="Text 41"/>
          <p:cNvSpPr/>
          <p:nvPr/>
        </p:nvSpPr>
        <p:spPr>
          <a:xfrm>
            <a:off x="4882896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7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095744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5" name="Text 43"/>
          <p:cNvSpPr/>
          <p:nvPr/>
        </p:nvSpPr>
        <p:spPr>
          <a:xfrm>
            <a:off x="7095744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neo4j 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308592" y="6272784"/>
            <a:ext cx="2084832" cy="402336"/>
          </a:xfrm>
          <a:prstGeom prst="roundRect">
            <a:avLst>
              <a:gd name="adj" fmla="val 13636"/>
            </a:avLst>
          </a:prstGeom>
          <a:solidFill>
            <a:srgbClr val="1B3A5C"/>
          </a:solidFill>
          <a:ln/>
        </p:spPr>
      </p:sp>
      <p:sp>
        <p:nvSpPr>
          <p:cNvPr id="47" name="Text 45"/>
          <p:cNvSpPr/>
          <p:nvPr/>
        </p:nvSpPr>
        <p:spPr>
          <a:xfrm>
            <a:off x="9308592" y="6272784"/>
            <a:ext cx="2084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(ARQ)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COLLECTION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数据采集与治理 · 13 源三级分级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docs/m5/assets/S3-crawl-real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爬取管理：13 源实时状态（DB 入库口径）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 A/B/C 三级分级：招聘（智联/脉脉）+ 课程（Coursera/edX/MOOC）+ 论文/社区（arXiv/GitHub/SO）+ 国家职业分类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国内直连 + 国际代理池三梯队：随机轮换 → 失败剔除 → 直连兜底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清洗管线：长度过滤 → 质量评分 → SimHash 语义去重 → 时效加权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合规红线：robots.txt 遵循 + 请求间隔 + 官方 API 条款背书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累计入库 15,293 条（JD / 课程 / 论文 / 社区），全链路可审计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KNOWLEDGE GRAPH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知识图谱构建（Neo4j 5）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docs/m5/assets/S7-domain-dri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岗位职能域聚合下钻（LLM 语义命名，15 域覆盖公开岗 100%）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实体：Position / Skill / Course / Evidence / Occupation（对接国家职业分类 1639+）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关系：REQUIRES（权重 + 必要性）· LEARNABLE_VIA · EVOLVED_FROM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岗位名归一化：技术栈细分保留（如 React 前端工程师）+ 失真兜底族技能路由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cjk 全文索引内建于 Neo4j——中文检索零额外服务（替代 Elasticsearch）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PIPELINE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抽取与幻觉防控 · 三道防线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 Prompt（System / Task / Few-Shot）+ 多 Provider 重试链（OpenAI 兼容协议）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六域决策信封全量落库：shadow / proposal / auto_applied / blocked 全程可追溯、可回放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第一道 · Schema 强校验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结构化输出契约，非法即拒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2336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第二道 · 词典过滤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0288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 / 停用词词典，拦截业务词与脏词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936992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284464" y="2395728"/>
            <a:ext cx="3529584" cy="1371600"/>
          </a:xfrm>
          <a:prstGeom prst="roundRect">
            <a:avLst>
              <a:gd name="adj" fmla="val 5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第三道 · 证据链追溯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03920" y="296265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每条断言可回指原始 JD，支持回放审计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评测闭环：110 条正式黄金集（人工标注）LLM 盲审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0.9629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5720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 aligned F1（目标 ≥0.90）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01752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1%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301752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FP 率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77840" y="45262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0.8825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577840" y="518464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F1（未对齐口径）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863840" y="4617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口径说明：跨源一致性为每日计算并在看板展示（透明可查），自动硬门控列入后续路线图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110 条 gold 人工标注盲审（词面真值对齐口径）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MATCHING ENGINE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人岗匹配引擎 · 技能级三维评分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docs/m5/assets/S8-match-top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真实简历 → Top-10 岗位推荐（JD 级评分，附原始 JD 证据）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三维加权：必备技能（must/nice 加权命中）+ 经验 + 学历，差距三态诊断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语义增强：SBERT 多语言向量 + Bradley-Terry 权重学习（Spearman 0.88）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纠偏机制：技能通胀修正（CII）+ 时效衰减 + 跨域降权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级评分口径：推荐列表与详情同源同分——对齐「最匹配的那条真实 JD」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双模式：批量推荐（Top-N）+ 单点比对（差距分析 + 学习路径）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演化发现 · 岗位能力生命周期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docs/m5/assets/S11-evolution-signal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演化看板：新兴 / 衰退技能 Top-10（Z-score 门控）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双信号检测：Z-score 统计门控 + 环比 MoM 辅助，抗波动打标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岗位状态机：emerging → stable → declining（置信度阈值 + RAG 接地）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技术热点观察池（arXiv / GitHub 信号）→ 自动升级 candidate 候选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新岗位发现页：候选岗位 + 技能增减 diff，人工审核后入图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8064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58064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emerging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892808" y="580644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58064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2E5F8A"/>
          </a:solidFill>
          <a:ln/>
        </p:spPr>
      </p:sp>
      <p:sp>
        <p:nvSpPr>
          <p:cNvPr id="13" name="Text 10"/>
          <p:cNvSpPr/>
          <p:nvPr/>
        </p:nvSpPr>
        <p:spPr>
          <a:xfrm>
            <a:off x="2240280" y="58064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stable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675888" y="5806440"/>
            <a:ext cx="329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023360" y="5806440"/>
            <a:ext cx="1417320" cy="420624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6" name="Text 13"/>
          <p:cNvSpPr/>
          <p:nvPr/>
        </p:nvSpPr>
        <p:spPr>
          <a:xfrm>
            <a:off x="4023360" y="580644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declining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LEARNING PATH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个性化学习路径 · 从差距到课程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71616" y="1517904"/>
            <a:ext cx="5687568" cy="324726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docs/m5/assets/S10-learning-pa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572768"/>
            <a:ext cx="5577840" cy="31375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482803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学习路径规划：先修分阶段 + 学时 + 推荐课程（可点击前往）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16916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差距诊断：missing / weak 分级 + ROI 优先级排序（需求度 × 趋势 ÷ 成本）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先修链展开（177 技能字典）+ 拓扑排序，分阶段学时甘特呈现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课程匹配：图谱 LEARNABLE_VIA + 语义兜底 + 中英词面豁免 + 灰色带质量门控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专家评审定稿：30 案例合理性 96.7%（course 语义 0.879 / hours 0.916）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前端可视化 · React 19 + ECharts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02336" y="1911096"/>
            <a:ext cx="3749040" cy="215684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6" name="Image 0" descr="docs/m5/assets/S6a-tech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965960"/>
            <a:ext cx="3639312" cy="204711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086225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技术栈视图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69664" y="1911096"/>
            <a:ext cx="3749040" cy="215684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9" name="Image 1" descr="docs/m5/assets/S6b-leve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24528" y="1965960"/>
            <a:ext cx="3639312" cy="204711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224528" y="4086225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级别视图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36992" y="1911096"/>
            <a:ext cx="3749040" cy="215684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  <a:effectLst>
            <a:outerShdw sx="100000" sy="100000" kx="0" ky="0" algn="bl" rotWithShape="0" blurRad="88900" dist="25400" dir="2700000">
              <a:srgbClr val="1B3A5C">
                <a:alpha val="18000"/>
              </a:srgbClr>
            </a:outerShdw>
          </a:effectLst>
        </p:spPr>
      </p:sp>
      <p:pic>
        <p:nvPicPr>
          <p:cNvPr id="12" name="Image 2" descr="docs/m5/assets/S6c-positioncent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91856" y="1965960"/>
            <a:ext cx="3639312" cy="204711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991856" y="4086225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岗位中心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57200" y="5349240"/>
            <a:ext cx="11247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 力导向全景 ≥100 节点 @ 60fps；3D 可选（动态加载，WebGL2 不可用自动降级 2D）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四视图切换：panorama / techStack / level / positionCenter · 匹配可视化：环形 / 雷达 / 热力 / 甘特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深浅双主题 + 响应式适配（平板 / 移动端固定 2D）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性能与压测 · P95 &lt; 2s 目标达成</a:t>
            </a:r>
            <a:endParaRPr lang="en-US" sz="2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4592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8064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100 并发压测基线（docs/perf_baseline_20260815.md），目标 P95 &lt; 2000ms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17373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500ms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731520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并发实测 P95（目标 &lt; 2s）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0" y="32918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single-flight 缓存穿透合并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search 60s 缓存 + Neo4j 连接池扩容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 &lt; 500ms · pgvector &lt; 300ms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3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Redis 缓存命中率 ≥ 85%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评测体系 · 三层闭环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关键词基线（离线确定性）→ 第二层 LLM 盲审（人工 gold）→ 第三层 专家定稿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解析六维评测：title / skills / bonus / education / experience / core_duties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▸"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全部指标均以人工标注或专家定稿为真值，非自评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0.9629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 条 gold · 目标 0.90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0.988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82696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简历解析 F1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82696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字段级抽取真值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08192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0.96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08192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08192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BT 权重 v2 · 684 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33688" y="2834640"/>
            <a:ext cx="2697480" cy="1965960"/>
          </a:xfrm>
          <a:prstGeom prst="roundRect">
            <a:avLst>
              <a:gd name="adj" fmla="val 3721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33688" y="306324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96.7%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933688" y="3913632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33688" y="4261104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5166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Source: 评测产物记录代码版本与 gold 口径；aligned=别名豁免 + 词面真值对齐口径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安全与合规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0020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PII 脱敏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2514600" y="1655064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简历隔离存储 + 敏感字段掩码后方送入 LLM，符合 PIPL / GDPR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14600" y="2496312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70632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7063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认证与权限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514600" y="2825496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三级角色（admin/user/guest）+ 双 Token + 登出黑名单 + 弱口令门禁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514600" y="3666744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941064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94106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接口防护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514600" y="399592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限流中间件 100 req/min/IP + 统一错误码契约（openapi.yaml 单一事实源）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14600" y="4837176"/>
            <a:ext cx="905256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5111496"/>
            <a:ext cx="1737360" cy="566928"/>
          </a:xfrm>
          <a:prstGeom prst="roundRect">
            <a:avLst>
              <a:gd name="adj" fmla="val 1290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511149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数据合规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514600" y="51663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仅采集公开元数据 + robots 遵循 + 学术非商业用途声明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SCALE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数据规模（实况快照）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4,393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技能节点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97096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97096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 岗位节点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36992" y="164592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36992" y="190195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1,473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936992" y="268833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课程（三门平台）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9,820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57200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jd_raw 全量抽取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97096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177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197096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先修链技能字典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36992" y="3566160"/>
            <a:ext cx="3611880" cy="1691640"/>
          </a:xfrm>
          <a:prstGeom prst="roundRect">
            <a:avLst>
              <a:gd name="adj" fmla="val 4324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382219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110 + 50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936992" y="4608576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/ 简历黄金集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另有：岗位职能域 15 个（LLM 语义命名，覆盖公开岗 100%）· 技能分类权威覆盖 23.9%（用户可见视图 91.7%）· 匹配黄金对 v1/v2 684 组 · 时间 / 通胀子集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注：数据截至 08-24 图谱治理快照，汇报前以 graph_versions 最新快照复核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6 人协作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00200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黄唐尧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00200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前端负责人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图谱可视化 / 交互 / 匹配页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97096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71416" y="193852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340096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马兴达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40096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后端负责人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71416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服务 / 部署 / 数据库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36992" y="164592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11312" y="193852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8211312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079992" y="1956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张恺天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79992" y="23591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算法负责人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11312" y="28346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图谱构建 / 匹配引擎 / 演化算法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00200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刘琪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00200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数据负责人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源采集 / 清洗管线 / 数据治理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197096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71416" y="4087368"/>
            <a:ext cx="713232" cy="71323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471416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340096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王鹏羽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340096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测试负责人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471416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评测体系 / 性能压测 / 黄金集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936992" y="3794760"/>
            <a:ext cx="3611880" cy="1920240"/>
          </a:xfrm>
          <a:prstGeom prst="roundRect">
            <a:avLst>
              <a:gd name="adj" fmla="val 3810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11312" y="4087368"/>
            <a:ext cx="713232" cy="713232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37" name="Text 35"/>
          <p:cNvSpPr/>
          <p:nvPr/>
        </p:nvSpPr>
        <p:spPr>
          <a:xfrm>
            <a:off x="8211312" y="408736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079992" y="410565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张怀伟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079992" y="45079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文档负责人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211312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方案文档 / PPT / 演示视频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项目里程碑 · 55 天全链路交付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10543032" cy="0"/>
          </a:xfrm>
          <a:prstGeom prst="line">
            <a:avLst/>
          </a:prstGeom>
          <a:noFill/>
          <a:ln w="25400">
            <a:solidFill>
              <a:srgbClr val="C9D7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37944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M1-M2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07.13-08.05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方案设计 + 核心实现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/ 图谱 / 抽取 / 匹配 / 演化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99432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2" name="Text 10"/>
          <p:cNvSpPr/>
          <p:nvPr/>
        </p:nvSpPr>
        <p:spPr>
          <a:xfrm>
            <a:off x="3355848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355848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08.06-15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55848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38728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功能完善 + 评测体系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学习路径专家定稿 96.7%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60920" y="2432304"/>
            <a:ext cx="164592" cy="164592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6117336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117336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08.16-25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17336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7FAFD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0216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打磨 + 审查 + 性能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高危修复 · P95 达标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122408" y="2432304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/>
          <p:nvPr/>
        </p:nvSpPr>
        <p:spPr>
          <a:xfrm>
            <a:off x="8878824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878824" y="27249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08.26-09.04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878824" y="315468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DF2F8"/>
          </a:solidFill>
          <a:ln w="9525">
            <a:solidFill>
              <a:srgbClr val="D7E2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61704" y="3310128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准确率收尾 + 交付物料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/ 视频 / 源码包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全程：480+ PR · CI 全绿门禁 · 六轮全项目代码审查 · 双机部署实测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关键成果数据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0.9629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457200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JD 解析 aligned F1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≥0.90 达标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97096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0.8906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197096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人岗匹配 Acc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97096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BT 权重 v2 · Spearman 0.88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25696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164592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7936992" y="254203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学习路径合理性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36992" y="290779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案例专家定稿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65592" y="342900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91.7%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57200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技能分类视图覆盖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权威覆盖 12.8% → 23.9%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97096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430ms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4197096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图谱全景 P95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97096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并发 · 目标 &lt;2s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25696" y="5623560"/>
            <a:ext cx="3154680" cy="0"/>
          </a:xfrm>
          <a:prstGeom prst="line">
            <a:avLst/>
          </a:prstGeom>
          <a:noFill/>
          <a:ln w="9525">
            <a:solidFill>
              <a:srgbClr val="E3EA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36992" y="38404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480+</a:t>
            </a:r>
            <a:endParaRPr lang="en-US" sz="4600" dirty="0"/>
          </a:p>
        </p:txBody>
      </p:sp>
      <p:sp>
        <p:nvSpPr>
          <p:cNvPr id="26" name="Text 24"/>
          <p:cNvSpPr/>
          <p:nvPr/>
        </p:nvSpPr>
        <p:spPr>
          <a:xfrm>
            <a:off x="7936992" y="473659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· ~71k 行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936992" y="51023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全绿 · 六轮审查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000232" y="3474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9B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20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3108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创新与差异化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28346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传统做法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岗位能力画像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834640" y="18745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静态文档，更新以月/年计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93408" y="18745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23760" y="1874520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1874520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动态演化图谱，随技术趋势自我更新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0632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7063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数据可信度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834640" y="2770632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 JD 关键词，信号失真即污染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27706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223760" y="2770632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27706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四源交叉验证 + 每日一致性看板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666744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66674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匹配粒度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834640" y="3666744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关键词命中，粗粒度打分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93408" y="366674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223760" y="3666744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36667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技能级三维评分 + 差距三态诊断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562856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628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后续动作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834640" y="456285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匹配即终点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93408" y="4562856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223760" y="4562856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4562856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差距 → 先修链 → 课程 → 学时的闭环路径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5458968"/>
            <a:ext cx="2194560" cy="658368"/>
          </a:xfrm>
          <a:prstGeom prst="roundRect">
            <a:avLst>
              <a:gd name="adj" fmla="val 8333"/>
            </a:avLst>
          </a:prstGeom>
          <a:solidFill>
            <a:srgbClr val="EDF2F8"/>
          </a:solidFill>
          <a:ln w="9525">
            <a:solidFill>
              <a:srgbClr val="C9D7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45896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可信度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2834640" y="545896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生成即采信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3408" y="54589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81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7223760" y="5458968"/>
            <a:ext cx="4572000" cy="658368"/>
          </a:xfrm>
          <a:prstGeom prst="roundRect">
            <a:avLst>
              <a:gd name="adj" fmla="val 8333"/>
            </a:avLst>
          </a:prstGeom>
          <a:solidFill>
            <a:srgbClr val="F7FAFD"/>
          </a:solidFill>
          <a:ln w="9525">
            <a:solidFill>
              <a:srgbClr val="BFDCC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60920" y="545896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6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三道防线 + 全量决策可回放审计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m5/assets/S5-graph-panoram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B2D">
              <a:alpha val="6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D4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全链路闭环 · 评测达标 · 演示就绪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23774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→ 图谱 → 抽取 → 匹配 → 演化 → 学习路径，55 天完成全链路真实数据闭环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四项核心指标全部达标：JD 解析 0.9629 · 匹配 0.8906 · 学习路径 96.7% · P95 430ms</a:t>
            </a:r>
            <a:endParaRPr lang="en-US" sz="155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550" dirty="0">
                <a:solidFill>
                  <a:srgbClr val="D8E4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展望：新岗位自动发现（种子引导 + 自动判定）· 数字化迁移领域扩展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57200" y="49377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感谢各位评委聆听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智岗罗盘团队 · XH-202621 · 2026.09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智岗罗盘——多源异构驱动的岗位能力动态演化与人岗匹配系统</dc:title>
  <dc:subject>PptxGenJS Presentation</dc:subject>
  <dc:creator>智岗罗盘团队</dc:creator>
  <cp:lastModifiedBy>智岗罗盘团队</cp:lastModifiedBy>
  <cp:revision>1</cp:revision>
  <dcterms:created xsi:type="dcterms:W3CDTF">2026-08-27T20:11:38Z</dcterms:created>
  <dcterms:modified xsi:type="dcterms:W3CDTF">2026-08-27T20:11:38Z</dcterms:modified>
</cp:coreProperties>
</file>