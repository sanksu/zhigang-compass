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实测 P95 (ms)</c:v>
                </c:pt>
              </c:strCache>
            </c:strRef>
          </c:tx>
          <c:spPr>
            <a:solidFill>
              <a:srgbClr val="2E5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3A5C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5F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panorama（图谱全景）</c:v>
                  </c:pt>
                  <c:pt idx="1">
                    <c:v>search（全文检索）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430</c:v>
                </c:pt>
                <c:pt idx="1">
                  <c:v>390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B3A5C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E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"/>
        </c:scaling>
        <c:delete val="0"/>
        <c:axPos val="l"/>
        <c:majorGridlines>
          <c:spPr>
            <a:ln w="6350" cap="flat">
              <a:solidFill>
                <a:srgbClr val="E4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E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8FD4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科大讯飞挑战杯 · 揭榜挂帅    项目编号 XH-202621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112745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8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智岗罗盘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8E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多源异构驱动的岗位能力动态演化与人岗匹配系统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4297680"/>
            <a:ext cx="292608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项目周期 2026.07.13 — 09.05    ·    团队 6 人（前端 / 后端 / 算法 / 数据 / 测试 / 文档）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项目背景与行业痛点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26464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3D2E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45920" y="148132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技术迭代 远快于 人才培养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188366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大模型每季度出现新方向，本科培养周期 4 年——技能供给天然滞后于岗位需求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645920" y="2450592"/>
            <a:ext cx="960120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33472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3D2E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645920" y="268833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结构性供需错配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309067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企业「招不到合适的人」，求职者「不知道学什么」——缺一个可量化的能力坐标参照系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645920" y="3657600"/>
            <a:ext cx="960120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84048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815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645920" y="389534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 JD 三大顽疾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429768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时滞（沿用 3 年前要求） · 抄袭（同质化严重） · 通胀（要求虚高）——JD 信号本身失真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645920" y="4864608"/>
            <a:ext cx="960120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047488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3D2E2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645920" y="51023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传统匹配停留在关键词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920" y="55046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无技能级差距诊断、无个性化学习路径——「匹不配得上」说不清，「差什么」更说不清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核心创新点（3 + 1）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394960" cy="2121408"/>
          </a:xfrm>
          <a:prstGeom prst="roundRect">
            <a:avLst>
              <a:gd name="adj" fmla="val 3448"/>
            </a:avLst>
          </a:prstGeom>
          <a:solidFill>
            <a:srgbClr val="EDF2F8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556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815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动态演化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34840" y="188366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核心竞争力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487168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从「静态画像」到「动态感知」——岗位能力图谱随技术趋势自我进化，新兴/衰退信号驱动更新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44768" y="1554480"/>
            <a:ext cx="5394960" cy="2121408"/>
          </a:xfrm>
          <a:prstGeom prst="roundRect">
            <a:avLst>
              <a:gd name="adj" fmla="val 3448"/>
            </a:avLst>
          </a:prstGeom>
          <a:solidFill>
            <a:srgbClr val="F7FA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7556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C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287768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多源交叉验证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122408" y="188366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37376" y="2487168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× 课程 × 论文/社区 × 国家职业分类四源融合，每日计算一致性并在看板展示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50208"/>
            <a:ext cx="5394960" cy="2121408"/>
          </a:xfrm>
          <a:prstGeom prst="roundRect">
            <a:avLst>
              <a:gd name="adj" fmla="val 3448"/>
            </a:avLst>
          </a:prstGeom>
          <a:solidFill>
            <a:srgbClr val="F7FA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15137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C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600200" y="4224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技能级人岗匹配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34840" y="42793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落地闭环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882896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三维加权评分 + 差距三态诊断 + 个性化学习路径——回答「差什么、学什么、怎么学」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44768" y="3950208"/>
            <a:ext cx="5394960" cy="2121408"/>
          </a:xfrm>
          <a:prstGeom prst="roundRect">
            <a:avLst>
              <a:gd name="adj" fmla="val 3448"/>
            </a:avLst>
          </a:prstGeom>
          <a:solidFill>
            <a:srgbClr val="F7FA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15137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C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287768" y="4224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幻觉防控三道防线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22408" y="42793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工程护栏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37376" y="4882896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Pydantic Schema 强校验 → 词典/白名单过滤 → 证据链可追溯，LLM 输出全量可回放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系统总体架构 · 五服务容器化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1170432"/>
          </a:xfrm>
          <a:prstGeom prst="roundRect">
            <a:avLst>
              <a:gd name="adj" fmla="val 4688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282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48840" y="1691640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6916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统一 API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87952" y="1691640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87952" y="16916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前端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27064" y="1691640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7064" y="16916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同端口静态托管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66176" y="1691640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6916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CORS/CSP/限流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94476" y="2651760"/>
            <a:ext cx="0" cy="274320"/>
          </a:xfrm>
          <a:prstGeom prst="line">
            <a:avLst/>
          </a:prstGeom>
          <a:noFill/>
          <a:ln w="22225">
            <a:solidFill>
              <a:srgbClr val="2E5F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2962656"/>
            <a:ext cx="11274552" cy="1170432"/>
          </a:xfrm>
          <a:prstGeom prst="roundRect">
            <a:avLst>
              <a:gd name="adj" fmla="val 4688"/>
            </a:avLst>
          </a:prstGeom>
          <a:solidFill>
            <a:srgbClr val="EDF2F8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735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图谱/算法层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148840" y="3236976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23697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 5 图谱+cjk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87952" y="3236976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323697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pgvector 向量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27064" y="3236976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7064" y="323697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匹配/演化引擎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66176" y="3236976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66176" y="323697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抽取管线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94476" y="4197096"/>
            <a:ext cx="0" cy="274320"/>
          </a:xfrm>
          <a:prstGeom prst="line">
            <a:avLst/>
          </a:prstGeom>
          <a:noFill/>
          <a:ln w="22225">
            <a:solidFill>
              <a:srgbClr val="2E5F8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" y="4507992"/>
            <a:ext cx="11274552" cy="1170432"/>
          </a:xfrm>
          <a:prstGeom prst="roundRect">
            <a:avLst>
              <a:gd name="adj" fmla="val 4688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818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采集层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148840" y="4782312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48840" y="478231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源三级爬虫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187952" y="4782312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87952" y="478231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代理池三梯队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27064" y="4782312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478231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SimHash 去重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266176" y="4782312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66176" y="478231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质量评分管线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59436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五服务容器化部署（docker compose 一键启动，全服务健康检查）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7200" y="6272784"/>
            <a:ext cx="2084832" cy="402336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27278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670048" y="6272784"/>
            <a:ext cx="2084832" cy="402336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/>
        </p:spPr>
      </p:sp>
      <p:sp>
        <p:nvSpPr>
          <p:cNvPr id="41" name="Text 39"/>
          <p:cNvSpPr/>
          <p:nvPr/>
        </p:nvSpPr>
        <p:spPr>
          <a:xfrm>
            <a:off x="2670048" y="627278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 + pgvector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82896" y="6272784"/>
            <a:ext cx="2084832" cy="402336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/>
        </p:spPr>
      </p:sp>
      <p:sp>
        <p:nvSpPr>
          <p:cNvPr id="43" name="Text 41"/>
          <p:cNvSpPr/>
          <p:nvPr/>
        </p:nvSpPr>
        <p:spPr>
          <a:xfrm>
            <a:off x="4882896" y="627278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7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095744" y="6272784"/>
            <a:ext cx="2084832" cy="402336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/>
        </p:spPr>
      </p:sp>
      <p:sp>
        <p:nvSpPr>
          <p:cNvPr id="45" name="Text 43"/>
          <p:cNvSpPr/>
          <p:nvPr/>
        </p:nvSpPr>
        <p:spPr>
          <a:xfrm>
            <a:off x="7095744" y="627278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 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308592" y="6272784"/>
            <a:ext cx="2084832" cy="402336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/>
        </p:spPr>
      </p:sp>
      <p:sp>
        <p:nvSpPr>
          <p:cNvPr id="47" name="Text 45"/>
          <p:cNvSpPr/>
          <p:nvPr/>
        </p:nvSpPr>
        <p:spPr>
          <a:xfrm>
            <a:off x="9308592" y="627278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(ARQ)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END-TO-END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全流程链路 · 从多源采集到用户视图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7465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2203704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多源采集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58368" y="2569464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源 A/B/C 分级 + 信号层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代理池三梯队 · robots 合规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27248" y="22402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82696" y="16002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17465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83864" y="2203704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清洗去重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83864" y="2569464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质量评分 · SimHash 语义去重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时效加权 · 长度过滤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52744" y="22402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08192" y="16002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7465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2203704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原始库落库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309360" y="2569464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四大 raw 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累计入库 17,250 条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778240" y="22402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33688" y="160020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34856" y="174650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34856" y="2203704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结构化抽取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134856" y="2569464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三道防线防幻觉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六域决策信封全量落库可回放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EDF2F8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9410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815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58368" y="4398264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图谱构建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8368" y="4764024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 22,570 节点 / 77,065 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快照版本化 graph_v*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27248" y="4434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282696" y="37947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83864" y="39410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483864" y="4398264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 / 演化引擎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3483864" y="4764024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技能级三维评分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双信号岗位生命周期检测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52744" y="4434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108192" y="37947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9410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07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309360" y="4398264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309360" y="4764024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先修链拓扑排序 · 242 技能字典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 LEARNABLE_VIA · 甘特学时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778240" y="44348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933688" y="3794760"/>
            <a:ext cx="2697480" cy="1737360"/>
          </a:xfrm>
          <a:prstGeom prst="roundRect">
            <a:avLst>
              <a:gd name="adj" fmla="val 4211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34856" y="39410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BD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08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134856" y="4398264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前端三视图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9134856" y="4764024"/>
            <a:ext cx="2295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 / 技术栈 / 岗位画像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+ ECharts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27455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457200" y="5760720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5760720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数据流：17,250 条原始数据 → LLM 结构化抽取（每条断言可回指原始 JD）→ 图谱 22,570 节点/77,065 边 → 四源每日一致性校验 → 用户视图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数据采集与治理 · 招聘源 A/B/C 分级 + 信号层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EDF2F8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级（核心招聘）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8653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智联招聘 · BOSS直聘（暂停 · 可逆恢复）· Monster（08.06 停采）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50008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23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级（国际招聘）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7340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Indeed · Glassdoor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18688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91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F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级（社区/公开页）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36027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脉脉（夜间实验）· LinkedIn 公开页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87368"/>
            <a:ext cx="5394960" cy="731520"/>
          </a:xfrm>
          <a:prstGeom prst="roundRect">
            <a:avLst>
              <a:gd name="adj" fmla="val 7500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160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信号层（课程/权威/趋势）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85800" y="44714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MOOC · Coursera · edX · arXiv · GitHub/Stack Overflow · 国家职业分类 CSV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93776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国内直连 + 国际代理池三梯队：随机轮换 → 失败剔除 → 直连兜底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清洗管线：长度过滤 → 质量评分 → SimHash 语义去重 → 时效加权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合规红线：robots.txt 遵循 + 请求间隔 + 官方 API 条款背书</a:t>
            </a:r>
            <a:endParaRPr lang="en-US" sz="13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累计入库 17,250 条（JD 11,115 · 课程 1,754 · 论文 2,429 · 社区 1,952），09-04 实查全链路可审计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71616" y="1517904"/>
            <a:ext cx="5687568" cy="3247263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2700000">
              <a:srgbClr val="1B3A5C">
                <a:alpha val="18000"/>
              </a:srgbClr>
            </a:outerShdw>
          </a:effectLst>
        </p:spPr>
      </p:sp>
      <p:pic>
        <p:nvPicPr>
          <p:cNvPr id="19" name="Image 0" descr="images/image-evolution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72768"/>
            <a:ext cx="5577840" cy="313753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126480" y="48280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数据治理管线：采集 → 清洗 → 去重 → 质量评分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 GRAPH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知识图谱构建（Neo4j 5）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071616" y="1517904"/>
            <a:ext cx="5687568" cy="3247263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2700000">
              <a:srgbClr val="1B3A5C">
                <a:alpha val="18000"/>
              </a:srgbClr>
            </a:outerShdw>
          </a:effectLst>
        </p:spPr>
      </p:sp>
      <p:pic>
        <p:nvPicPr>
          <p:cNvPr id="6" name="Image 0" descr="images/image-graph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72768"/>
            <a:ext cx="5577840" cy="31375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48280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力导向图谱：岗位 / 技能 / 课程 / 证据 多实体异构网络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实体：Position / Skill / Course / Evidence / Occupation（对接国家职业分类 3,240）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关系：REQUIRES 11,714（权重+必要性）· LEARNABLE_VIA 9,741 · PREREQUISITE_OF 288 · EVIDENCED_BY 47,911 证据链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岗位名归一化：技术栈细分保留（如 React 前端工程师）+ 失真兜底族技能路由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cjk 全文索引内建于 Neo4j——中文检索零额外服务（替代 Elasticsearch）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职能域（5 大骨干 + 4 显式语义域（网络安全/AI应用与智能体/企业应用与系统/产品与项目管理）+ 通用兜底），归类依据逐岗可查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LLM 抽取与幻觉防控 · 三道防线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Prompt（System / Task / Few-Shot）+ 多 Provider 重试链（OpenAI 兼容协议）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六域决策信封全量落库：shadow / proposal / auto_applied / blocked 全程可追溯、可回放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95728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第一道 · Schema 强校验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29626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Pydantic 结构化输出契约，非法输出即拒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41648" y="27889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70832" y="2395728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第二道 · 词典过滤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29626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 / 停用词词典，拦截业务脏词与歧义词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55280" y="27889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84464" y="2395728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第三道 · 证据链追溯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29626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每条断言可回指原始 JD，支持回放审计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950208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7FAFD"/>
          </a:solidFill>
          <a:ln w="9525">
            <a:solidFill>
              <a:srgbClr val="BFDC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950208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自动治理 + 人工审核：</a:t>
            </a:r>
            <a:pPr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六域决策信封全量落库——auto_applied 自动入图 · proposal 进管理后台审核队列人工复核 · dict-guard 动态词典拦截，每条决策可回放审计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评测闭环：110 条正式黄金集（人工标注）LLM 盲审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50292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815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0.9632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57200" y="5687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 aligned F1（目标 ≥0.90）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017520" y="50292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&lt; 1%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017520" y="5687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 FP 率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577840" y="50292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0.8865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577840" y="5687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F1（未对齐口径）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863840" y="51389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口径说明：跨源一致性为每日计算并在看板展示（透明可查），自动硬门控列入后续路线图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110 条 gold 人工标注盲审（词面真值对齐口径）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MATCHING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人岗匹配引擎 · 技能级三维评分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071616" y="1517904"/>
            <a:ext cx="5687568" cy="42931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2700000">
              <a:srgbClr val="1B3A5C">
                <a:alpha val="18000"/>
              </a:srgbClr>
            </a:outerShdw>
          </a:effectLst>
        </p:spPr>
      </p:sp>
      <p:pic>
        <p:nvPicPr>
          <p:cNvPr id="6" name="Image 0" descr="images/image-matching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72768"/>
            <a:ext cx="5577840" cy="41833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58521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三维评分 + 语义增强 · 差距三态诊断 + 证据链追溯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三维加权：必备技能（must/nice 加权命中）+ 经验 + 学历，差距三态诊断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语义增强：SBERT 多语言向量 + Bradley-Terry 权重学习（Spearman 0.88）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纠偏机制：技能通胀修正（CII）+ 时效衰减 + 跨域降权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级评分口径：推荐列表与详情同源同分——对齐「最匹配的那条真实 JD」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双模式：批量推荐（Top-N）+ 单点比对（差距分析 + 学习路径）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演化发现 · 岗位能力生命周期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071616" y="1517904"/>
            <a:ext cx="5687568" cy="3247263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2700000">
              <a:srgbClr val="1B3A5C">
                <a:alpha val="18000"/>
              </a:srgbClr>
            </a:outerShdw>
          </a:effectLst>
        </p:spPr>
      </p:sp>
      <p:pic>
        <p:nvPicPr>
          <p:cNvPr id="6" name="Image 0" descr="images/image-evolution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72768"/>
            <a:ext cx="5577840" cy="31375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48280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双信号检测：Z-score + MoM · 新兴/衰退趋势实时追踪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双信号检测：Z-score 统计门控 + 环比 MoM 辅助，抗波动打标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岗位状态机：emerging → stable → declining（置信度阈值 + RAG 接地）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技术热点观察池（arXiv / GitHub 信号）→ 自动升级 candidate 候选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新岗位发现页：候选岗位 + 技能增减 diff，人工审核后入图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521208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521208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emerging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892808" y="5212080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240280" y="521208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2E5F8A"/>
          </a:solidFill>
          <a:ln/>
        </p:spPr>
      </p:sp>
      <p:sp>
        <p:nvSpPr>
          <p:cNvPr id="13" name="Text 10"/>
          <p:cNvSpPr/>
          <p:nvPr/>
        </p:nvSpPr>
        <p:spPr>
          <a:xfrm>
            <a:off x="2240280" y="521208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stable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675888" y="5212080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023360" y="521208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</p:spPr>
      </p:sp>
      <p:sp>
        <p:nvSpPr>
          <p:cNvPr id="16" name="Text 13"/>
          <p:cNvSpPr/>
          <p:nvPr/>
        </p:nvSpPr>
        <p:spPr>
          <a:xfrm>
            <a:off x="4023360" y="521208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declining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58978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媒介落差指数 MLI：四维信号综合判定产业拐点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LEARNING PATH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个性化学习路径 · 从差距到课程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071616" y="1517904"/>
            <a:ext cx="5687568" cy="42931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2700000">
              <a:srgbClr val="1B3A5C">
                <a:alpha val="18000"/>
              </a:srgbClr>
            </a:outerShdw>
          </a:effectLst>
        </p:spPr>
      </p:sp>
      <p:pic>
        <p:nvPicPr>
          <p:cNvPr id="6" name="Image 0" descr="images/image-learningpath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72768"/>
            <a:ext cx="5577840" cy="41833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58521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先修链拓扑排序 + 学时甘特呈现 · 课程 LEARNABLE_VIA 匹配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差距诊断：missing / weak 分级 + ROI 优先级排序（需求度 × 趋势 ÷ 成本）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先修链展开（242 技能字典）+ 拓扑排序，分阶段学时甘特呈现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课程匹配：图谱 LEARNABLE_VIA + 语义兜底 + 中英词面豁免 + 灰色带质量门控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专家评审定稿：30 案例合理性 96.7%（course 语义 0.879 / hours 0.916）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前端可视化 · React 19 + ECharts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02336" y="1545336"/>
            <a:ext cx="3721608" cy="214141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2700000">
              <a:srgbClr val="1B3A5C">
                <a:alpha val="18000"/>
              </a:srgbClr>
            </a:outerShdw>
          </a:effectLst>
        </p:spPr>
      </p:sp>
      <p:pic>
        <p:nvPicPr>
          <p:cNvPr id="6" name="Image 0" descr="images/image-graph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00200"/>
            <a:ext cx="3611880" cy="20316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794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全景视图 panorama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7200" y="413308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 力导向异构图谱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≥100 节点 @ 60fps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142232" y="1545336"/>
            <a:ext cx="3721608" cy="214141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2700000">
              <a:srgbClr val="1B3A5C">
                <a:alpha val="18000"/>
              </a:srgbClr>
            </a:outerShdw>
          </a:effectLst>
        </p:spPr>
      </p:sp>
      <p:pic>
        <p:nvPicPr>
          <p:cNvPr id="10" name="Image 1" descr="images/image-techstack_16x9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97096" y="1600200"/>
            <a:ext cx="3611880" cy="203168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97096" y="3794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技术栈视图 techStack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197096" y="413308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 → 岗位关联聚合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热点技术栈一屏总览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882128" y="1545336"/>
            <a:ext cx="3721608" cy="214141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2700000">
              <a:srgbClr val="1B3A5C">
                <a:alpha val="18000"/>
              </a:srgbClr>
            </a:outerShdw>
          </a:effectLst>
        </p:spPr>
      </p:sp>
      <p:pic>
        <p:nvPicPr>
          <p:cNvPr id="14" name="Image 2" descr="images/image-portrait_16x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36992" y="1600200"/>
            <a:ext cx="3611880" cy="203168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36992" y="37947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岗位画像 positionPortrait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7936992" y="413308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单岗位能力雷达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技能要求 + 差距诊断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57200" y="4983480"/>
            <a:ext cx="3611880" cy="960120"/>
          </a:xfrm>
          <a:prstGeom prst="roundRect">
            <a:avLst>
              <a:gd name="adj" fmla="val 5714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85800" y="511149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匹配可视化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85800" y="54406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环形图 · 雷达图 · 热力图 · 甘特图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197096" y="4983480"/>
            <a:ext cx="3611880" cy="960120"/>
          </a:xfrm>
          <a:prstGeom prst="roundRect">
            <a:avLst>
              <a:gd name="adj" fmla="val 5714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425696" y="511149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响应式适配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425696" y="54406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深浅双主题 · 平板/移动 2D 固定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936992" y="4983480"/>
            <a:ext cx="3611880" cy="960120"/>
          </a:xfrm>
          <a:prstGeom prst="roundRect">
            <a:avLst>
              <a:gd name="adj" fmla="val 5714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165592" y="511149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可选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165592" y="54406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动态加载 · WebGL2 不可用自动降级 2D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617220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三视图均为界面概念图，真实截图以系统演示为准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性能与压测 · P95 &lt; 2s 目标达成</a:t>
            </a:r>
            <a:endParaRPr lang="en-US" sz="2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4592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8064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100 并发压测基线（docs/perf_baseline_20260815.md），目标 P95 &lt; 2000ms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0" y="17373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815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&lt; 500ms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0" y="2560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并发实测 P95（目标 &lt; 2s）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0" y="329184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single-flight 缓存穿透合并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 60s 缓存 + Neo4j 连接池扩容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全文检索 &lt; 500ms · pgvector &lt; 300ms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缓存命中率 ≥ 85%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评测体系 · 三层闭环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745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关键词基线（离线确定性）→ 第二层 LLM 盲审（人工 gold）→ 第三层 专家定稿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解析六维评测：title / skills / bonus / education / experience / core_duties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全部指标均以人工标注或专家定稿为真值，非自评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63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815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0.9632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9136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解析 aligned F1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6110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110 条 gold · 目标 ≥0.90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82696" y="2834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3063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0.988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82696" y="39136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简历解析 F1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82696" y="426110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08192" y="2834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3063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0.9714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108192" y="39136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人岗匹配 Acc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08192" y="426110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384 对黄金集含学历维度（BT v4）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33688" y="2834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33688" y="3063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96.7%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933688" y="39136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学习路径合理性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33688" y="426110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案例专家定稿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5166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评测产物记录代码版本与 gold 口径；aligned=别名豁免 + 词面真值对齐口径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安全与合规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PII 脱敏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14600" y="165506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简历隔离存储 + 敏感字段掩码后方送入 LLM，符合 PIPL / GDPR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2496312"/>
            <a:ext cx="905256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70632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706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认证与权限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514600" y="282549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三级角色（admin/user/guest）+ 双 Token + 登出黑名单 + 弱口令门禁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14600" y="3666744"/>
            <a:ext cx="905256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41064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410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接口防护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514600" y="399592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限流中间件 100 req/min/IP + 统一错误码契约（openapi.yaml 单一事实源）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14600" y="4837176"/>
            <a:ext cx="905256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111496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1114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数据合规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514600" y="5166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仅采集公开元数据 + robots 遵循 + 学术非商业用途声明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SCALE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数据规模（实况快照）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EDF2F8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0195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7,342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883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技能节点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97096" y="164592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7096" y="190195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118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197096" y="26883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 岗位节点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36992" y="164592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190195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1,754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936992" y="26883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课程（三门平台）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221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11,115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57200" y="460857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jd_raw 全量抽取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97096" y="35661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38221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242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197096" y="460857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先修链技能字典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36992" y="35661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36992" y="38221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110 + 50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7936992" y="460857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/ 简历黄金集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6235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另有：10 职能域（5 大骨干 + 4 显式语义域（网络安全/AI应用与智能体/企业应用与系统/产品与项目管理）+ 通用兜底）· 技能分类权威覆盖 23.9%（用户可见视图 91.7%）· 匹配黄金对 v1/v2 684 组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注：09-04 实查 · 数据截至 graph_v20260903 快照（22570 节点/77065 边）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关键成果数据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815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0.9632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解析 aligned F1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≥0.90 达标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429000"/>
            <a:ext cx="315468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7096" y="16459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0.9714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197096" y="25420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人岗匹配 Acc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97096" y="29077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384 对黄金集含学历维度（BT v4）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25696" y="3429000"/>
            <a:ext cx="315468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16459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96.7%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7936992" y="25420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学习路径合理性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36992" y="29077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案例专家定稿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65592" y="3429000"/>
            <a:ext cx="315468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04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91.7%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457200" y="47365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技能分类视图覆盖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51023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权威覆盖 12.8% → 23.9%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5623560"/>
            <a:ext cx="315468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97096" y="38404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430ms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4197096" y="47365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图谱全景 P95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97096" y="51023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并发 · 目标 &lt;2s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25696" y="5623560"/>
            <a:ext cx="315468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36992" y="38404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480+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7936992" y="47365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 · ~71k 行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36992" y="51023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全绿 · 六轮审查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创新与差异化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83464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传统做法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2376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智岗罗盘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岗位能力画像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34640" y="18745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静态文档，更新以月/年计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93408" y="18745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23760" y="1874520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7FAFD"/>
          </a:solidFill>
          <a:ln w="9525">
            <a:solidFill>
              <a:srgbClr val="BFDC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187452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动态演化图谱，随技术趋势自我更新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70632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706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数据可信度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34640" y="2770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单源 JD 关键词，信号失真即污染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93408" y="27706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23760" y="2770632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7FAFD"/>
          </a:solidFill>
          <a:ln w="9525">
            <a:solidFill>
              <a:srgbClr val="BFDC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277063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四源交叉验证 + 每日一致性看板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667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匹配粒度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834640" y="366674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关键词命中，粗粒度打分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93408" y="366674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223760" y="3666744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7FAFD"/>
          </a:solidFill>
          <a:ln w="9525">
            <a:solidFill>
              <a:srgbClr val="BFDC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36667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技能级三维评分 + 差距三态诊断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562856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628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后续动作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834640" y="456285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匹配即终点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93408" y="456285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23760" y="4562856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7FAFD"/>
          </a:solidFill>
          <a:ln w="9525">
            <a:solidFill>
              <a:srgbClr val="BFDC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456285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 → 先修链 → 课程 → 学时的闭环路径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5458968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45896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可信度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834640" y="54589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生成即采信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93408" y="54589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223760" y="5458968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7FAFD"/>
          </a:solidFill>
          <a:ln w="9525">
            <a:solidFill>
              <a:srgbClr val="BFDC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60920" y="54589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三道防线 + 全量决策可回放审计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4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全链路闭环 · 评测达标 · 演示就绪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112745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D8E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 → 图谱 → 抽取 → 匹配 → 演化 → 学习路径，55 天完成全链路真实数据闭环</a:t>
            </a:r>
            <a:endParaRPr lang="en-US" sz="15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D8E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四项核心指标全部达标：JD 解析 0.9632 · 匹配 0.9714 · 学习路径 96.7% · P95 430ms</a:t>
            </a:r>
            <a:endParaRPr lang="en-US" sz="15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D8E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展望：新岗位自动发现（种子引导 + 自动判定）· 数字化迁移领域扩展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感谢各位评委聆听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58521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智岗罗盘团队 · XH-202621 · 2026.09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智岗罗盘——多源异构驱动的岗位能力动态演化与人岗匹配系统</dc:title>
  <dc:subject>PptxGenJS Presentation</dc:subject>
  <dc:creator>智岗罗盘团队</dc:creator>
  <cp:lastModifiedBy>智岗罗盘团队</cp:lastModifiedBy>
  <cp:revision>1</cp:revision>
  <dcterms:created xsi:type="dcterms:W3CDTF">2026-09-04T13:15:42Z</dcterms:created>
  <dcterms:modified xsi:type="dcterms:W3CDTF">2026-09-04T13:15:42Z</dcterms:modified>
</cp:coreProperties>
</file>